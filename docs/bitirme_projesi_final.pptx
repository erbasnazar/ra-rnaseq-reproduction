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omments/modernComment_101_0.xml" ContentType="application/vnd.ms-powerpoint.comments+xml"/>
  <Override PartName="/ppt/comments/modernComment_103_0.xml" ContentType="application/vnd.ms-powerpoint.comments+xml"/>
  <Override PartName="/ppt/comments/modernComment_105_0.xml" ContentType="application/vnd.ms-powerpoint.comments+xml"/>
  <Override PartName="/ppt/comments/modernComment_107_0.xml" ContentType="application/vnd.ms-powerpoint.comments+xml"/>
  <Override PartName="/ppt/comments/modernComment_109_0.xml" ContentType="application/vnd.ms-powerpoint.comments+xml"/>
  <Override PartName="/ppt/comments/modernComment_10B_0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70" r:id="rId14"/>
    <p:sldId id="271" r:id="rId15"/>
    <p:sldId id="266" r:id="rId16"/>
    <p:sldId id="269" r:id="rId17"/>
    <p:sldId id="272" r:id="rId18"/>
    <p:sldId id="273" r:id="rId19"/>
    <p:sldId id="277" r:id="rId20"/>
    <p:sldId id="274" r:id="rId21"/>
    <p:sldId id="275" r:id="rId22"/>
    <p:sldId id="278" r:id="rId23"/>
    <p:sldId id="276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28980B1-B0C2-A79D-D380-E65C812E27DE}" name="Nazar Erbaş" initials="NE" userId="d045aef89c437f4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957" autoAdjust="0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4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comments/modernComment_10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D5D70BA-0C28-420D-B018-8013E70571BF}" authorId="{128980B1-B0C2-A79D-D380-E65C812E27DE}" created="2026-04-16T09:36:51.29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7"/>
      <ac:spMk id="38" creationId="{00000000-0000-0000-0000-000000000000}"/>
    </ac:deMkLst>
    <p188:txBody>
      <a:bodyPr/>
      <a:lstStyle/>
      <a:p>
        <a:r>
          <a:rPr lang="tr-TR"/>
          <a:t>Ek olarak protein düzeyinde doğrulama, kas hücrelerinin gerçekten antijen sunup sunmadığını göstermek için T hücre aktivasyon assay’leri ve hücresel heterojeniteyi anlamak için single-cell RNA-seq analizi önemli katkı sağlayabilirdi.</a:t>
        </a:r>
      </a:p>
    </p188:txBody>
  </p188:cm>
</p188:cmLst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CF5B403-4835-4CF8-96B7-4515F4A57990}" authorId="{128980B1-B0C2-A79D-D380-E65C812E27DE}" created="2026-04-16T04:30:13.07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20" creationId="{00000000-0000-0000-0000-000000000000}"/>
    </ac:deMkLst>
    <p188:txBody>
      <a:bodyPr/>
      <a:lstStyle/>
      <a:p>
        <a:r>
          <a:rPr lang="tr-TR"/>
          <a:t>DAS28: 28 eklem üzerinden Romatoid artritte hastalık aktivitesini ölçen klinik skordur</a:t>
        </a:r>
      </a:p>
    </p188:txBody>
  </p188:cm>
  <p188:cm id="{BDE29382-3333-4939-A827-6184A296570C}" authorId="{128980B1-B0C2-A79D-D380-E65C812E27DE}" created="2026-04-16T04:42:35.873">
    <pc:sldMkLst xmlns:pc="http://schemas.microsoft.com/office/powerpoint/2013/main/command">
      <pc:docMk/>
      <pc:sldMk cId="0" sldId="257"/>
    </pc:sldMkLst>
    <p188:txBody>
      <a:bodyPr/>
      <a:lstStyle/>
      <a:p>
        <a:r>
          <a:rPr lang="tr-TR"/>
          <a:t>kas disfonksiyonunun doğrudan inflamasyon kaynaklı olup olmadığını anlamak</a:t>
        </a:r>
      </a:p>
    </p188:txBody>
  </p188:cm>
</p188:cmLst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D71BD89-3C76-45A3-9DD8-E64A84A93683}" authorId="{128980B1-B0C2-A79D-D380-E65C812E27DE}" created="2026-04-16T05:05:51.88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spMk id="34" creationId="{00000000-0000-0000-0000-000000000000}"/>
    </ac:deMkLst>
    <p188:txBody>
      <a:bodyPr/>
      <a:lstStyle/>
      <a:p>
        <a:r>
          <a:rPr lang="tr-TR"/>
          <a:t>IRF1, IFN-gamma tarafından aktive edilen bir transkripsiyon faktörüdür ve immün yanıt genlerinin ekspresyonunu artırır.</a:t>
        </a:r>
      </a:p>
    </p188:txBody>
  </p188:cm>
</p188:cmLst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C2F794C-598A-4E81-8B4C-15D2899C1939}" authorId="{128980B1-B0C2-A79D-D380-E65C812E27DE}" created="2026-04-16T05:51:22.796">
    <pc:sldMkLst xmlns:pc="http://schemas.microsoft.com/office/powerpoint/2013/main/command">
      <pc:docMk/>
      <pc:sldMk cId="0" sldId="261"/>
    </pc:sldMkLst>
    <p188:txBody>
      <a:bodyPr/>
      <a:lstStyle/>
      <a:p>
        <a:r>
          <a:rPr lang="tr-TR"/>
          <a:t>Bu sonuçlar PCA bulgularını desteklemektedir.</a:t>
        </a:r>
      </a:p>
    </p188:txBody>
  </p188:cm>
</p188:cmLst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04A19E8-9BB8-4131-A356-49647853DFAF}" authorId="{128980B1-B0C2-A79D-D380-E65C812E27DE}" created="2026-04-16T09:29:51.89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3"/>
      <ac:spMk id="9" creationId="{00000000-0000-0000-0000-000000000000}"/>
    </ac:deMkLst>
    <p188:txBody>
      <a:bodyPr/>
      <a:lstStyle/>
      <a:p>
        <a:r>
          <a:rPr lang="tr-TR"/>
          <a:t>Kontrol grubuna benzer sekilde RA grubunda da IFN gamma bircok immün yanıt genini güclü sekilde aktive etmesinin yanı sıra farklı olarak bazı metabolik ve stresle ilişkili genleri de aktive etmektedir. </a:t>
        </a:r>
      </a:p>
    </p188:txBody>
  </p188:cm>
</p188:cmLst>
</file>

<file path=ppt/comments/modernComment_10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0907668-683C-41EE-821C-E68DFD7D9D20}" authorId="{128980B1-B0C2-A79D-D380-E65C812E27DE}" created="2026-04-16T06:26:36.95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5"/>
      <ac:spMk id="9" creationId="{00000000-0000-0000-0000-000000000000}"/>
    </ac:deMkLst>
    <p188:txBody>
      <a:bodyPr/>
      <a:lstStyle/>
      <a:p>
        <a:r>
          <a:rPr lang="tr-TR"/>
          <a:t>Kontrol hücrelerinde de IFN-gamma ile birlikte çok sayıda genin aktive olduğunu görüyoruz. Bu genlerin büyük kısmı RA örneklerinde de benzer şekilde artmaktadır.
Bu da IFN-gamma yanıtının hastalığa özgü değil, daha genel bir yanıt olduğunu göstermektedir.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6359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9_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B_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5FF">
            <a:alpha val="4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1168"/>
            <a:ext cx="96012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1828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ROMATOİD ARTRİTTE İSKELET KASININ MOLEKÜLER ANALİZİ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508760" y="7772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Bitirme </a:t>
            </a:r>
            <a:r>
              <a:rPr lang="en-US" sz="1300" i="1" dirty="0" err="1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Projesi</a:t>
            </a:r>
            <a:r>
              <a:rPr lang="en-US" sz="1300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Sunumu</a:t>
            </a:r>
            <a:r>
              <a:rPr lang="en-US" sz="1300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365760" y="1600200"/>
            <a:ext cx="3749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502920" y="16459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Hazırlayan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9202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Nazar E</a:t>
            </a:r>
            <a:r>
              <a:rPr lang="tr-T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RBAŞ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220125105033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749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10" name="Text 7"/>
          <p:cNvSpPr/>
          <p:nvPr/>
        </p:nvSpPr>
        <p:spPr>
          <a:xfrm>
            <a:off x="4434840" y="16459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Danışman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434840" y="19202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Kerem Mert Ş</a:t>
            </a:r>
            <a:r>
              <a:rPr lang="tr-T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0" y="1600200"/>
            <a:ext cx="3749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8366760" y="16459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Kaynak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366760" y="19202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Oliver et al. · Communications Biology 2025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251460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Sunumun Kapsamı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65760" y="2834640"/>
            <a:ext cx="11430000" cy="2286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4"/>
          <p:cNvSpPr/>
          <p:nvPr/>
        </p:nvSpPr>
        <p:spPr>
          <a:xfrm>
            <a:off x="365760" y="2944368"/>
            <a:ext cx="5532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5"/>
          <p:cNvSpPr/>
          <p:nvPr/>
        </p:nvSpPr>
        <p:spPr>
          <a:xfrm>
            <a:off x="365760" y="2944368"/>
            <a:ext cx="54864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/>
          <p:nvPr/>
        </p:nvSpPr>
        <p:spPr>
          <a:xfrm>
            <a:off x="512064" y="301752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Çalışma Tasarımı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12064" y="3346704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Miyobundl</a:t>
            </a:r>
            <a:r>
              <a:rPr lang="tr-TR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modeli · 6 donör · 4 sitokin koşulu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126480" y="2944368"/>
            <a:ext cx="5532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9"/>
          <p:cNvSpPr/>
          <p:nvPr/>
        </p:nvSpPr>
        <p:spPr>
          <a:xfrm>
            <a:off x="6126480" y="2944368"/>
            <a:ext cx="54864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0"/>
          <p:cNvSpPr/>
          <p:nvPr/>
        </p:nvSpPr>
        <p:spPr>
          <a:xfrm>
            <a:off x="6272784" y="301752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PCA Analizi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272784" y="3346704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65760" y="4023360"/>
            <a:ext cx="5532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Shape 23"/>
          <p:cNvSpPr/>
          <p:nvPr/>
        </p:nvSpPr>
        <p:spPr>
          <a:xfrm>
            <a:off x="365760" y="4023360"/>
            <a:ext cx="54864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4"/>
          <p:cNvSpPr/>
          <p:nvPr/>
        </p:nvSpPr>
        <p:spPr>
          <a:xfrm>
            <a:off x="512064" y="409651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Heatmap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12064" y="4425696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126480" y="4023360"/>
            <a:ext cx="5532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7"/>
          <p:cNvSpPr/>
          <p:nvPr/>
        </p:nvSpPr>
        <p:spPr>
          <a:xfrm>
            <a:off x="6126480" y="4023360"/>
            <a:ext cx="54864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8"/>
          <p:cNvSpPr/>
          <p:nvPr/>
        </p:nvSpPr>
        <p:spPr>
          <a:xfrm>
            <a:off x="6272784" y="409651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Volcano Plot (RA)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6272784" y="4425696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52044" y="5085539"/>
            <a:ext cx="5532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4" name="Shape 31"/>
          <p:cNvSpPr/>
          <p:nvPr/>
        </p:nvSpPr>
        <p:spPr>
          <a:xfrm>
            <a:off x="365760" y="5102352"/>
            <a:ext cx="54864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2"/>
          <p:cNvSpPr/>
          <p:nvPr/>
        </p:nvSpPr>
        <p:spPr>
          <a:xfrm>
            <a:off x="512064" y="517550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Volcano Plot (Kontrol)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512064" y="5504688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126480" y="5102352"/>
            <a:ext cx="5532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8" name="Shape 35"/>
          <p:cNvSpPr/>
          <p:nvPr/>
        </p:nvSpPr>
        <p:spPr>
          <a:xfrm>
            <a:off x="6126480" y="5102352"/>
            <a:ext cx="54864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6"/>
          <p:cNvSpPr/>
          <p:nvPr/>
        </p:nvSpPr>
        <p:spPr>
          <a:xfrm>
            <a:off x="6272784" y="517550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Sonuç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6272784" y="5504688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39"/>
          <p:cNvSpPr/>
          <p:nvPr/>
        </p:nvSpPr>
        <p:spPr>
          <a:xfrm>
            <a:off x="274320" y="6620256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</a:t>
            </a:r>
            <a:r>
              <a:rPr lang="en-US" sz="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Romatoid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Artritte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İskelet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Kasının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Moleküler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Analizi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Oliver et al. Communications Biology 2025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11777472" y="662025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6019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1186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Çalışmanın Amacı ve Deney Tasarımı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01168" y="566928"/>
            <a:ext cx="1186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Oliver et al. Communications Biology 2025  ·  Duke University Biyomedikal Mühendisliği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11868912" cy="2286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74320" y="6620256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Romatoid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Artritte İskelet Kasının Moleküler Analizi  ·  Oliver et al. Communications Biology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77472" y="662025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" y="960120"/>
            <a:ext cx="548640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10" name="Text 8"/>
          <p:cNvSpPr/>
          <p:nvPr/>
        </p:nvSpPr>
        <p:spPr>
          <a:xfrm>
            <a:off x="384048" y="1024128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Bu Çalışmaya İhtiyaç Var?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1417320"/>
            <a:ext cx="5166360" cy="1565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tr-TR" sz="1050" dirty="0"/>
              <a:t>Romatoid artrit (RA), yalnızca eklemleri değil, iskelet kasını da etkileyen sistemik bir </a:t>
            </a:r>
            <a:r>
              <a:rPr lang="tr-TR" sz="1050" dirty="0" err="1"/>
              <a:t>inflamatuvar</a:t>
            </a:r>
            <a:r>
              <a:rPr lang="tr-TR" sz="1050" dirty="0"/>
              <a:t> hastalıktır. RA hastalarında kas kütlesi ve kas kuvvetinde belirgin azalma görülmekte ve bu durum fonksiyonel kapasiteyi ciddi şekilde sınırlandırmaktadır.</a:t>
            </a:r>
          </a:p>
          <a:p>
            <a:r>
              <a:rPr lang="tr-TR" sz="1050" dirty="0" err="1"/>
              <a:t>Proinflamatuvar</a:t>
            </a:r>
            <a:r>
              <a:rPr lang="tr-TR" sz="1050" dirty="0"/>
              <a:t> sitokinler, özellikle </a:t>
            </a:r>
            <a:r>
              <a:rPr lang="tr-TR" sz="1050" b="1" dirty="0"/>
              <a:t>IFN-</a:t>
            </a:r>
            <a:r>
              <a:rPr lang="el-GR" sz="1050" b="1" dirty="0"/>
              <a:t>γ </a:t>
            </a:r>
            <a:r>
              <a:rPr lang="tr-TR" sz="1050" b="1" dirty="0"/>
              <a:t>ve IL-6</a:t>
            </a:r>
            <a:r>
              <a:rPr lang="tr-TR" sz="1050" dirty="0"/>
              <a:t>, kas hücrelerinde protein yıkımını artırırken protein sentezini baskılayarak kas disfonksiyonuna katkıda bulunur. Ancak bu etkilerin </a:t>
            </a:r>
            <a:r>
              <a:rPr lang="tr-TR" sz="1050" b="1" dirty="0"/>
              <a:t>insan kas dokusu üzerindeki doğrudan mekanizmaları tam olarak aydınlatılamamıştır.</a:t>
            </a:r>
            <a:endParaRPr lang="tr-TR" sz="1050" dirty="0"/>
          </a:p>
          <a:p>
            <a:r>
              <a:rPr lang="tr-TR" sz="1050" dirty="0"/>
              <a:t>Bu çalışma, bu boşluğu doldurmak amacıyla </a:t>
            </a:r>
            <a:r>
              <a:rPr lang="tr-TR" sz="1050" b="1" dirty="0"/>
              <a:t>insan kaynaklı 3 boyutlu </a:t>
            </a:r>
            <a:r>
              <a:rPr lang="tr-TR" sz="1050" b="1" dirty="0" err="1"/>
              <a:t>miyobundle</a:t>
            </a:r>
            <a:r>
              <a:rPr lang="tr-TR" sz="1050" b="1" dirty="0"/>
              <a:t> modeli</a:t>
            </a:r>
            <a:r>
              <a:rPr lang="tr-TR" sz="1050" dirty="0"/>
              <a:t> kullanarak inflamasyonun kas üzerindeki etkilerini incelemektedir.</a:t>
            </a:r>
          </a:p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3098800"/>
            <a:ext cx="5212080" cy="659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r>
              <a:rPr lang="tr-TR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en-US" sz="1150" b="1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</a:t>
            </a:r>
            <a:r>
              <a:rPr lang="tr-TR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r>
              <a:rPr lang="tr-TR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Modelinin Avantajları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4048" y="3246120"/>
            <a:ext cx="5166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050" dirty="0"/>
              <a:t>İnsan primer iskelet kas hücrelerinden elde edilen </a:t>
            </a:r>
            <a:r>
              <a:rPr lang="tr-TR" sz="1050" b="1" dirty="0"/>
              <a:t>3D fizyolojik model</a:t>
            </a:r>
            <a:r>
              <a:rPr lang="tr-TR" sz="105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050" dirty="0"/>
              <a:t>Elektriksel stimülasyon ile </a:t>
            </a:r>
            <a:r>
              <a:rPr lang="tr-TR" sz="1050" b="1" dirty="0"/>
              <a:t>doğrudan kasılma kuvveti ölçümü</a:t>
            </a:r>
            <a:r>
              <a:rPr lang="tr-TR" sz="105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050" dirty="0"/>
              <a:t>Uzun süreli deneylere uygun (2D kültüre kıyasla stabil yapı)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050" dirty="0"/>
              <a:t>RA ve kontrol kaslarının </a:t>
            </a:r>
            <a:r>
              <a:rPr lang="tr-TR" sz="1050" b="1" dirty="0"/>
              <a:t>aynı koşullarda karşılaştırılabilmesi</a:t>
            </a:r>
            <a:r>
              <a:rPr lang="tr-TR" sz="105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050" b="1" dirty="0"/>
              <a:t>İlaç etkilerinin fonksiyonel düzeyde test edilebilmesi</a:t>
            </a:r>
            <a:r>
              <a:rPr lang="tr-TR" sz="1050" dirty="0"/>
              <a:t>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70448" y="960120"/>
            <a:ext cx="6053328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053328" y="1024128"/>
            <a:ext cx="5760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 Tasarımı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53328" y="1463040"/>
            <a:ext cx="278892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053328" y="15087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Donörleri (n=3)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53328" y="182880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Sağlıklı, yaş eşleştirilmiş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53328" y="208483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C107, C109, C111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997696" y="1463040"/>
            <a:ext cx="2788920" cy="9144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8997696" y="15087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Donörleri (n=3)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97696" y="182880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hastalık aktivitesi (DAS28)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997696" y="208483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RA104, RA106, RA109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53328" y="25146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Tedavi Koşulu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53328" y="2880360"/>
            <a:ext cx="1408176" cy="9601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053328" y="2916936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53328" y="3300984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Tedavisiz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53328" y="3538728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534656" y="2880360"/>
            <a:ext cx="1408176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7534656" y="2916936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IFN-γ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534656" y="3300984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ng/mL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534656" y="3538728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gün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015984" y="2880360"/>
            <a:ext cx="1408176" cy="9601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9015984" y="2916936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IL-6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015984" y="3300984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ng/mL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015984" y="3538728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gün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497312" y="2880360"/>
            <a:ext cx="1408176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10497312" y="2916936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IFN-γ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+IL-6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497312" y="3300984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Kombinasyon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497312" y="3538728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gün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53328" y="3977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 Akışı  →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601968" y="4297680"/>
            <a:ext cx="274320" cy="274320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6601968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67728" y="4407408"/>
            <a:ext cx="475488" cy="4572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6144768" y="463600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Hücre Ekimi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083296" y="4297680"/>
            <a:ext cx="274320" cy="274320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8083296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449056" y="4407408"/>
            <a:ext cx="475488" cy="4572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7626096" y="463600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4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Diferansiasyon Başlar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564624" y="4297680"/>
            <a:ext cx="274320" cy="274320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9564624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930384" y="4407408"/>
            <a:ext cx="475488" cy="4572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9107424" y="463600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7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Sitokin Tedavisi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1045952" y="4297680"/>
            <a:ext cx="274320" cy="274320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Text 53"/>
          <p:cNvSpPr/>
          <p:nvPr/>
        </p:nvSpPr>
        <p:spPr>
          <a:xfrm>
            <a:off x="11045952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588752" y="463600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14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RNA-seq + Analiz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053328" y="557784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Toplam: 6 donör × 4 koşul = 24 RNA-seq kütüphanesi · NovaSeq 6000 · 50bp paired-end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>
    <p:ext uri="{6950BFC3-D8DA-4A85-94F7-54DA5524770B}">
      <p188:commentRel xmlns=""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6019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1186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— Temel Bileşenler Analizi: Figür Karşılaştırması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01168" y="566928"/>
            <a:ext cx="1186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PC1: %60 Varyans  ·  PC2: %8 (makale) / %11 (bizim)  ·  24 örnek, 4 koşul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11868912" cy="2286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74320" y="6620256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Romatoid </a:t>
            </a:r>
            <a:r>
              <a:rPr lang="en-US" sz="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Artritte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İskelet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Kasının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Moleküler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Analizi  ·  Oliver et al. Communications Biology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77472" y="662025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" y="960120"/>
            <a:ext cx="576072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10896" y="960120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Makale Figürü — Fig. 4A  (Oliver et al. 2025)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44768" y="960120"/>
            <a:ext cx="57607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254496" y="960120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Bizim Analizimiz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6512" y="1261872"/>
            <a:ext cx="57607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6144768" y="1293876"/>
            <a:ext cx="57607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3"/>
          <p:cNvSpPr/>
          <p:nvPr/>
        </p:nvSpPr>
        <p:spPr>
          <a:xfrm>
            <a:off x="201168" y="4507992"/>
            <a:ext cx="117043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4"/>
          <p:cNvSpPr/>
          <p:nvPr/>
        </p:nvSpPr>
        <p:spPr>
          <a:xfrm>
            <a:off x="292608" y="45079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2670048" y="45079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Makale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5047488" y="4507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Bizim Analizimiz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8887968" y="45079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Açıklama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201168" y="4782312"/>
            <a:ext cx="117043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19"/>
          <p:cNvSpPr/>
          <p:nvPr/>
        </p:nvSpPr>
        <p:spPr>
          <a:xfrm>
            <a:off x="292608" y="4855464"/>
            <a:ext cx="118872" cy="118872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0"/>
          <p:cNvSpPr/>
          <p:nvPr/>
        </p:nvSpPr>
        <p:spPr>
          <a:xfrm>
            <a:off x="457200" y="4782312"/>
            <a:ext cx="212140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varyansı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2834640" y="4782312"/>
            <a:ext cx="2331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%60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5212080" y="4782312"/>
            <a:ext cx="3794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%60  ✓  Tutarlı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9052560" y="4782312"/>
            <a:ext cx="3063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iki analizde aynı — IFN-γ dominant sinyal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201168" y="5047488"/>
            <a:ext cx="11704320" cy="265176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5"/>
          <p:cNvSpPr/>
          <p:nvPr/>
        </p:nvSpPr>
        <p:spPr>
          <a:xfrm>
            <a:off x="292608" y="5120640"/>
            <a:ext cx="118872" cy="118872"/>
          </a:xfrm>
          <a:prstGeom prst="lin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6"/>
          <p:cNvSpPr/>
          <p:nvPr/>
        </p:nvSpPr>
        <p:spPr>
          <a:xfrm>
            <a:off x="457200" y="5047488"/>
            <a:ext cx="212140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varyansı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2834640" y="5047488"/>
            <a:ext cx="2331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212080" y="5047488"/>
            <a:ext cx="3794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%11  ⚠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9052560" y="5047488"/>
            <a:ext cx="3063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 neden: gen filtrasyonu veya VST/rlog farkı — biyolojik yorum değişmez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201168" y="5312664"/>
            <a:ext cx="117043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1"/>
          <p:cNvSpPr/>
          <p:nvPr/>
        </p:nvSpPr>
        <p:spPr>
          <a:xfrm>
            <a:off x="292608" y="5385816"/>
            <a:ext cx="118872" cy="118872"/>
          </a:xfrm>
          <a:prstGeom prst="lin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2"/>
          <p:cNvSpPr/>
          <p:nvPr/>
        </p:nvSpPr>
        <p:spPr>
          <a:xfrm>
            <a:off x="457200" y="5312664"/>
            <a:ext cx="212140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ekseni aralığı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2834640" y="5312664"/>
            <a:ext cx="2331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−60 ile +60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5212080" y="5312664"/>
            <a:ext cx="3794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 ile +50  ⚠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9052560" y="5312664"/>
            <a:ext cx="3063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xlim=c(-60,60) parametresiyle düzeltilebilir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201168" y="5577840"/>
            <a:ext cx="11704320" cy="265176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41" name="Shape 37"/>
          <p:cNvSpPr/>
          <p:nvPr/>
        </p:nvSpPr>
        <p:spPr>
          <a:xfrm>
            <a:off x="292608" y="5650992"/>
            <a:ext cx="118872" cy="118872"/>
          </a:xfrm>
          <a:prstGeom prst="lin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38"/>
          <p:cNvSpPr/>
          <p:nvPr/>
        </p:nvSpPr>
        <p:spPr>
          <a:xfrm>
            <a:off x="457200" y="5577840"/>
            <a:ext cx="212140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 formatı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2834640" y="5577840"/>
            <a:ext cx="2331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IFN-γ · No treatment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5212080" y="5577840"/>
            <a:ext cx="3794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 · NT  ⚠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9052560" y="5577840"/>
            <a:ext cx="3063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sütun adlarından geliyor — factor level yeniden adlandırılmalı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201168" y="5843016"/>
            <a:ext cx="117043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Shape 43"/>
          <p:cNvSpPr/>
          <p:nvPr/>
        </p:nvSpPr>
        <p:spPr>
          <a:xfrm>
            <a:off x="292608" y="5916168"/>
            <a:ext cx="118872" cy="118872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4"/>
          <p:cNvSpPr/>
          <p:nvPr/>
        </p:nvSpPr>
        <p:spPr>
          <a:xfrm>
            <a:off x="457200" y="5843016"/>
            <a:ext cx="212140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Biyolojik kümeleme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2834640" y="5843016"/>
            <a:ext cx="2331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IFN-γ sağda, NT/IL-6 solda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5212080" y="5843016"/>
            <a:ext cx="3794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Tamamen tutarlı  ✓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9052560" y="5843016"/>
            <a:ext cx="3063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biyolojik bulgu her iki analizde doğrulanıyor</a:t>
            </a:r>
            <a:endParaRPr lang="en-US" sz="850" dirty="0"/>
          </a:p>
        </p:txBody>
      </p:sp>
      <p:pic>
        <p:nvPicPr>
          <p:cNvPr id="53" name="Resim 52">
            <a:extLst>
              <a:ext uri="{FF2B5EF4-FFF2-40B4-BE49-F238E27FC236}">
                <a16:creationId xmlns:a16="http://schemas.microsoft.com/office/drawing/2014/main" id="{EB9DB5F8-C1A9-8BA9-F9AE-C9298432E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282" y="1235066"/>
            <a:ext cx="4177553" cy="3231778"/>
          </a:xfrm>
          <a:prstGeom prst="rect">
            <a:avLst/>
          </a:prstGeom>
        </p:spPr>
      </p:pic>
      <p:pic>
        <p:nvPicPr>
          <p:cNvPr id="55" name="Resim 54">
            <a:extLst>
              <a:ext uri="{FF2B5EF4-FFF2-40B4-BE49-F238E27FC236}">
                <a16:creationId xmlns:a16="http://schemas.microsoft.com/office/drawing/2014/main" id="{FFC88C17-8082-91BC-8465-DAEC9681D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165" y="1261872"/>
            <a:ext cx="3956423" cy="3246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6019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1186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— Biyolojik Yorum ve Mekanistik Anlam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01168" y="566928"/>
            <a:ext cx="1186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grafik ne anlatıyor? · PC1 ve PC2 ne ifade ediyor? · RA ile kontrol neden ayrışmıyor?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11868912" cy="2286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74320" y="6620256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Romatoid Artritte İskelet Kasının Moleküler Analizi  ·  Oliver et al. Communications Biology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77472" y="662025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" y="960120"/>
            <a:ext cx="3858768" cy="36118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201168" y="960120"/>
            <a:ext cx="385876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38328" y="1042416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PC1 %60 Ne Anlama Geliyor?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328" y="1481328"/>
            <a:ext cx="356616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38328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PCA, binlerce genin ekspresyon verisini 2 boyuta indirger. PC1'deki %60 varyans şu anlama geliyor: tüm örnekler arasındaki farkın %60'ı tek bir biyolojik sinyal tarafından açıklanıyor. Tipik RNA-seq PCA analizlerinde PC1 %20-40 arasında kalır. %60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olağanüstü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yüksektir</a:t>
            </a:r>
            <a:r>
              <a:rPr lang="tr-T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</a:p>
          <a:p>
            <a:pPr marL="0" indent="0" algn="l">
              <a:buNone/>
            </a:pPr>
            <a:endParaRPr lang="tr-TR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tr-TR" sz="1050" b="1" dirty="0"/>
              <a:t>YORUM: IFN-</a:t>
            </a:r>
            <a:r>
              <a:rPr lang="el-GR" sz="1050" b="1" dirty="0"/>
              <a:t>γ </a:t>
            </a:r>
            <a:r>
              <a:rPr lang="tr-TR" sz="1050" b="1" dirty="0"/>
              <a:t>ile tedavi edilen örnekler, tedavisiz ve IL-6 gruplarından ayrışır . IFN-</a:t>
            </a:r>
            <a:r>
              <a:rPr lang="el-GR" sz="1050" b="1" dirty="0"/>
              <a:t>γ, </a:t>
            </a:r>
            <a:r>
              <a:rPr lang="tr-TR" sz="1050" b="1" dirty="0"/>
              <a:t>gen ekspresyonu üzerinde en büyük etkiye sahiptir . </a:t>
            </a:r>
          </a:p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24528" y="960120"/>
            <a:ext cx="3858768" cy="3611880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224528" y="960120"/>
            <a:ext cx="385876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361688" y="1042416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ve Kontrol Neden Ayrışmıyor?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61688" y="1481328"/>
            <a:ext cx="3566160" cy="18288"/>
          </a:xfrm>
          <a:prstGeom prst="rect">
            <a:avLst/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361688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Tedavisiz (NT) koşulda RA ve kontrol örnekleri sol tarafta birbirine yakın kümeleniyor. </a:t>
            </a:r>
            <a:endParaRPr lang="tr-TR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kritik bir bulgu: RA'lı kas hücreleri dinlenme halinde kontrollerden temelden farklı değil. </a:t>
            </a:r>
            <a:endParaRPr lang="tr-TR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05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Asıl</a:t>
            </a: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ayrışma IFN-γ uyarısıyla ortaya çıkıyor. </a:t>
            </a:r>
            <a:endParaRPr lang="tr-TR" sz="105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Bu, RA'daki kas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patolojisinin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sitokin mikro-ortamından kaynaklandığına işaret ediyor. </a:t>
            </a:r>
            <a:endParaRPr lang="tr-TR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açıdan: bu mekanizma ilaçla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hedeflenebilir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tr-TR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tr-TR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tr-TR" sz="1050" b="1" dirty="0"/>
              <a:t>YORUM: RA ve kontrol arasındaki fark, sitokin uyarısı ile ortaya çıkmaktadır. </a:t>
            </a:r>
            <a:endParaRPr lang="en-US" sz="1050" b="1" dirty="0"/>
          </a:p>
        </p:txBody>
      </p:sp>
      <p:sp>
        <p:nvSpPr>
          <p:cNvPr id="19" name="Shape 17"/>
          <p:cNvSpPr/>
          <p:nvPr/>
        </p:nvSpPr>
        <p:spPr>
          <a:xfrm>
            <a:off x="8247888" y="960120"/>
            <a:ext cx="3858768" cy="361188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8247888" y="960120"/>
            <a:ext cx="3858768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8385048" y="1042416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IL-6 Neden PC1'i Etkilemiyor?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385048" y="1481328"/>
            <a:ext cx="3566160" cy="18288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8385048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IL-6 tek başına alan örnekler NT'ye çok yakın konumlanıyor — PC1'de belirgin bir kayma yok. IFN-γ+IL-6 kombinasyonunda ise örnekler saf IFN-γ'ya yakın ama tam üst üste gelmiyor.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IL-6 IFN-γ'yı nötralize etmiyor, sadece hafifletiyor. </a:t>
            </a:r>
            <a:endParaRPr lang="tr-TR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tr-TR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tr-TR" sz="1050" b="1" dirty="0"/>
              <a:t>YORUM:IL-6’nın gen ekspresyonu üzerindeki etkisi sınırlıdır . </a:t>
            </a:r>
          </a:p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1168" y="4663440"/>
            <a:ext cx="11704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algn="just"/>
            <a:endParaRPr lang="tr-TR" dirty="0"/>
          </a:p>
        </p:txBody>
      </p:sp>
      <p:sp>
        <p:nvSpPr>
          <p:cNvPr id="25" name="Text 23"/>
          <p:cNvSpPr/>
          <p:nvPr/>
        </p:nvSpPr>
        <p:spPr>
          <a:xfrm>
            <a:off x="384048" y="47365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Mekanistik Özet — IFN-γ'nın Kas Hücresindeki Yolağı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47472" y="5074920"/>
            <a:ext cx="178308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347472" y="5093208"/>
            <a:ext cx="17830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IFN-γ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37667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148840" y="5074920"/>
            <a:ext cx="137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313432" y="5074920"/>
            <a:ext cx="178308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2313432" y="5093208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000" b="1" dirty="0">
                <a:solidFill>
                  <a:schemeClr val="bg1"/>
                </a:solidFill>
              </a:rPr>
              <a:t>JAK/STAT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2313432" y="537667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14800" y="5074920"/>
            <a:ext cx="137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279392" y="5099869"/>
            <a:ext cx="178308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algn="ctr"/>
            <a:endParaRPr lang="tr-TR" sz="1050" b="1" dirty="0">
              <a:solidFill>
                <a:schemeClr val="bg1"/>
              </a:solidFill>
            </a:endParaRPr>
          </a:p>
          <a:p>
            <a:pPr algn="ctr"/>
            <a:r>
              <a:rPr lang="tr-TR" sz="1050" b="1" dirty="0">
                <a:solidFill>
                  <a:schemeClr val="bg1"/>
                </a:solidFill>
              </a:rPr>
              <a:t>IRF1 AKTİVASYONU</a:t>
            </a:r>
          </a:p>
        </p:txBody>
      </p:sp>
      <p:sp>
        <p:nvSpPr>
          <p:cNvPr id="35" name="Text 33"/>
          <p:cNvSpPr/>
          <p:nvPr/>
        </p:nvSpPr>
        <p:spPr>
          <a:xfrm>
            <a:off x="4279392" y="509320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79392" y="537667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080760" y="5074920"/>
            <a:ext cx="137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45352" y="5074920"/>
            <a:ext cx="1783080" cy="6858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6245352" y="5093208"/>
            <a:ext cx="17830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tr-TR" sz="1050" b="1" dirty="0">
                <a:solidFill>
                  <a:schemeClr val="bg1"/>
                </a:solidFill>
              </a:rPr>
              <a:t>İMMÜN GENLER ↑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6245352" y="537667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046720" y="5074920"/>
            <a:ext cx="137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211312" y="5074920"/>
            <a:ext cx="1783080" cy="685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8211312" y="5093208"/>
            <a:ext cx="17830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tr-TR" sz="1050" b="1" dirty="0">
                <a:solidFill>
                  <a:schemeClr val="bg1"/>
                </a:solidFill>
              </a:rPr>
              <a:t>KAS FONKSİYONU ↓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8211312" y="537667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012680" y="5074920"/>
            <a:ext cx="560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177272" y="509320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MYL5 ↓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177272" y="537667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>
    <p:ext uri="{6950BFC3-D8DA-4A85-94F7-54DA5524770B}">
      <p188:commentRel xmlns=""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6019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1186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— Hiyerarşik Kümeleme: Figür Karşılaştırması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01168" y="566928"/>
            <a:ext cx="1186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250 DEG  ·  Z-skor normalize 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11868912" cy="2286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74320" y="6620256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Romatoid Artritte İskelet Kasının Moleküler Analizi  ·  Oliver et al. Communications Biology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77472" y="662025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" y="960120"/>
            <a:ext cx="576072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10896" y="960120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Makale Figürü — Fig. 4B  (Skala: ±3 z-skor)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44768" y="960120"/>
            <a:ext cx="5760720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254496" y="960120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Bizim Analizimiz  (Skala: ±1.5 z-skor)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" y="1261872"/>
            <a:ext cx="57607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6144768" y="1261872"/>
            <a:ext cx="57607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1298448"/>
            <a:ext cx="5650992" cy="3081528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9632" y="1298448"/>
            <a:ext cx="5650992" cy="308152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01168" y="4507992"/>
            <a:ext cx="117043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4"/>
          <p:cNvSpPr/>
          <p:nvPr/>
        </p:nvSpPr>
        <p:spPr>
          <a:xfrm>
            <a:off x="292608" y="45079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2852928" y="45079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Makale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5138928" y="45079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Bizim Analizimiz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8339328" y="4507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 Nedeni ve Düzeltme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201168" y="4782312"/>
            <a:ext cx="117043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19"/>
          <p:cNvSpPr/>
          <p:nvPr/>
        </p:nvSpPr>
        <p:spPr>
          <a:xfrm>
            <a:off x="292608" y="4855464"/>
            <a:ext cx="118872" cy="118872"/>
          </a:xfrm>
          <a:prstGeom prst="lin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0"/>
          <p:cNvSpPr/>
          <p:nvPr/>
        </p:nvSpPr>
        <p:spPr>
          <a:xfrm>
            <a:off x="457200" y="4782312"/>
            <a:ext cx="230428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 skalası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3017520" y="4782312"/>
            <a:ext cx="2240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±3 z-skor (standart)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5303520" y="4782312"/>
            <a:ext cx="3154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±1.5 z-skor  ⚠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8503920" y="4782312"/>
            <a:ext cx="3611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z-skoru dağılımının %99.7'si ±3'te. ±1.5'te renkler doyuyor, gradyan bilgisi kaybolur. Düzeltme: breaks=seq(-3,3,101)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201168" y="5047488"/>
            <a:ext cx="11704320" cy="265176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5"/>
          <p:cNvSpPr/>
          <p:nvPr/>
        </p:nvSpPr>
        <p:spPr>
          <a:xfrm>
            <a:off x="292608" y="5120640"/>
            <a:ext cx="118872" cy="118872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6"/>
          <p:cNvSpPr/>
          <p:nvPr/>
        </p:nvSpPr>
        <p:spPr>
          <a:xfrm>
            <a:off x="457200" y="5047488"/>
            <a:ext cx="230428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Kümeleme yapısı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3017520" y="5047488"/>
            <a:ext cx="2240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ana süper küme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303520" y="5047488"/>
            <a:ext cx="3154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Tamamen tutarlı  ✓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8503920" y="5047488"/>
            <a:ext cx="3611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IFN-γ içeren örnekler sol küme, NT/IL-6 sağ küme — her iki analizde aynı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201168" y="5312664"/>
            <a:ext cx="117043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1"/>
          <p:cNvSpPr/>
          <p:nvPr/>
        </p:nvSpPr>
        <p:spPr>
          <a:xfrm>
            <a:off x="292608" y="5385816"/>
            <a:ext cx="118872" cy="118872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2"/>
          <p:cNvSpPr/>
          <p:nvPr/>
        </p:nvSpPr>
        <p:spPr>
          <a:xfrm>
            <a:off x="457200" y="5312664"/>
            <a:ext cx="230428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vs Kontrol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3017520" y="5312664"/>
            <a:ext cx="2240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tedavide birlikte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5303520" y="5312664"/>
            <a:ext cx="3154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Tamamen tutarlı  ✓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8503920" y="5312664"/>
            <a:ext cx="3611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Hastalık durumu değil IFN-γ maruziyeti temel belirleyici — tutarlı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201168" y="5577840"/>
            <a:ext cx="11704320" cy="265176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7"/>
          <p:cNvSpPr/>
          <p:nvPr/>
        </p:nvSpPr>
        <p:spPr>
          <a:xfrm>
            <a:off x="292608" y="5650992"/>
            <a:ext cx="118872" cy="118872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38"/>
          <p:cNvSpPr/>
          <p:nvPr/>
        </p:nvSpPr>
        <p:spPr>
          <a:xfrm>
            <a:off x="457200" y="5577840"/>
            <a:ext cx="230428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bar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3017520" y="5577840"/>
            <a:ext cx="2240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5303520" y="5577840"/>
            <a:ext cx="3154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Treatment+Group çubuğu  ✓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8503920" y="5577840"/>
            <a:ext cx="3611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Bizim versiyonumuz daha bilgilendirici — bu avantaj olarak sunulabilir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201168" y="5843016"/>
            <a:ext cx="117043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Shape 43"/>
          <p:cNvSpPr/>
          <p:nvPr/>
        </p:nvSpPr>
        <p:spPr>
          <a:xfrm>
            <a:off x="292608" y="5916168"/>
            <a:ext cx="118872" cy="118872"/>
          </a:xfrm>
          <a:prstGeom prst="lin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4"/>
          <p:cNvSpPr/>
          <p:nvPr/>
        </p:nvSpPr>
        <p:spPr>
          <a:xfrm>
            <a:off x="457200" y="5843016"/>
            <a:ext cx="230428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 doygunluğu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3017520" y="5843016"/>
            <a:ext cx="2240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Belirgin gradyan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5303520" y="5843016"/>
            <a:ext cx="3154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soluk  ⚠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8503920" y="5843016"/>
            <a:ext cx="3611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±1.5 skalasından kaynaklanıyor — yukarıdaki düzeltme bunu da çözecek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6019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1186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— Ne Anlatıyor? Küme ve Gen Modülü Yorumu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01168" y="566928"/>
            <a:ext cx="1186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süper küme neden oluşuyor? · </a:t>
            </a:r>
            <a:r>
              <a:rPr lang="tr-TR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r>
              <a:rPr lang="tr-TR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yorumu 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11868912" cy="2286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74320" y="6620256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Romatoid Artritte İskelet Kasının Moleküler Analizi  ·  Oliver et al. Communications Biology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77472" y="662025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" y="960120"/>
            <a:ext cx="605332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84048" y="1024128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Ana Süper Küme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4048" y="1389888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Sütun dendrogramı örnekleri gen ekspresyon benzerliğine göre gruplar. Belirgin iki süper küme oluşuyor: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SÜPER KÜME — IFN-γ içeren tüm örnekler (hem RA hem kontrol). Bu grupta kırmızı dominant: interferon-stimulated genes (ISG'ler) yüzlerce geni aynı anda aktive ediyor. RA ve kontrol örnekleri ayrılmıyor — IFN-γ maruziyeti belirleyici.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 SÜPER KÜME — Tedavisiz (NT) ve IL-6 örnekleri. Mavi dominant: ISG'ler baskılanmış durumda. IL-6 tek başına bu büyük transkripsiyonel değişimi tetiklemiyor.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27648" y="1024128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27648" y="1389888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01168" y="3355848"/>
            <a:ext cx="11704320" cy="2770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84048" y="3474720"/>
            <a:ext cx="11247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00" b="1" dirty="0" err="1"/>
              <a:t>Heatmap</a:t>
            </a:r>
            <a:r>
              <a:rPr lang="tr-TR" sz="1400" b="1" dirty="0"/>
              <a:t> yorumlanması </a:t>
            </a:r>
            <a:endParaRPr lang="en-US" sz="1400" b="1" dirty="0"/>
          </a:p>
        </p:txBody>
      </p:sp>
      <p:sp>
        <p:nvSpPr>
          <p:cNvPr id="17" name="Shape 15"/>
          <p:cNvSpPr/>
          <p:nvPr/>
        </p:nvSpPr>
        <p:spPr>
          <a:xfrm>
            <a:off x="274320" y="3858768"/>
            <a:ext cx="2788920" cy="2148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18" name="Shape 16"/>
          <p:cNvSpPr/>
          <p:nvPr/>
        </p:nvSpPr>
        <p:spPr>
          <a:xfrm>
            <a:off x="274320" y="3858768"/>
            <a:ext cx="2788920" cy="5486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65760" y="39502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000" b="1" dirty="0">
                <a:solidFill>
                  <a:srgbClr val="C00000"/>
                </a:solidFill>
              </a:rPr>
              <a:t>1. IFN-</a:t>
            </a:r>
            <a:r>
              <a:rPr lang="el-GR" sz="1000" b="1" dirty="0">
                <a:solidFill>
                  <a:srgbClr val="C00000"/>
                </a:solidFill>
              </a:rPr>
              <a:t>γ </a:t>
            </a:r>
            <a:r>
              <a:rPr lang="tr-TR" sz="1000" b="1" dirty="0">
                <a:solidFill>
                  <a:srgbClr val="C00000"/>
                </a:solidFill>
              </a:rPr>
              <a:t>En Güçlü Etkiyi Oluşturur</a:t>
            </a:r>
            <a:endParaRPr lang="en-US" sz="950" dirty="0">
              <a:solidFill>
                <a:srgbClr val="C0000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5760" y="4352544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4297680"/>
            <a:ext cx="2606040" cy="1476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050" dirty="0"/>
              <a:t>IFN-</a:t>
            </a:r>
            <a:r>
              <a:rPr lang="el-GR" sz="1050" dirty="0"/>
              <a:t>γ </a:t>
            </a:r>
            <a:r>
              <a:rPr lang="tr-TR" sz="1050" dirty="0"/>
              <a:t>uygulanan örnekler </a:t>
            </a:r>
            <a:r>
              <a:rPr lang="tr-TR" sz="1050" b="1" dirty="0"/>
              <a:t>tek bir kümede toplanır</a:t>
            </a:r>
            <a:r>
              <a:rPr lang="tr-TR" sz="1050" dirty="0"/>
              <a:t> .</a:t>
            </a:r>
          </a:p>
          <a:p>
            <a:r>
              <a:rPr lang="tr-TR" sz="1050" dirty="0"/>
              <a:t>Yüzlerce gen aynı anda aktive olur. </a:t>
            </a:r>
          </a:p>
          <a:p>
            <a:endParaRPr lang="tr-TR" sz="1050" b="1" dirty="0"/>
          </a:p>
          <a:p>
            <a:r>
              <a:rPr lang="tr-TR" sz="1050" b="1" dirty="0"/>
              <a:t>Sonuç:</a:t>
            </a:r>
            <a:r>
              <a:rPr lang="tr-TR" sz="1050" dirty="0"/>
              <a:t/>
            </a:r>
            <a:br>
              <a:rPr lang="tr-TR" sz="1050" dirty="0"/>
            </a:br>
            <a:r>
              <a:rPr lang="tr-TR" sz="1050" dirty="0"/>
              <a:t>IFN-</a:t>
            </a:r>
            <a:r>
              <a:rPr lang="el-GR" sz="1050" dirty="0"/>
              <a:t>γ, </a:t>
            </a:r>
            <a:r>
              <a:rPr lang="tr-TR" sz="1050" dirty="0"/>
              <a:t>kas hücresinde geniş çaplı gen ekspresyon değişimi oluşturur. </a:t>
            </a:r>
          </a:p>
          <a:p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504748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27832" y="3913632"/>
            <a:ext cx="2788920" cy="21488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 sz="1050" dirty="0"/>
          </a:p>
          <a:p>
            <a:endParaRPr lang="tr-TR" sz="1050" dirty="0"/>
          </a:p>
          <a:p>
            <a:endParaRPr lang="tr-TR" sz="1050" dirty="0"/>
          </a:p>
          <a:p>
            <a:r>
              <a:rPr lang="tr-TR" sz="1050" dirty="0"/>
              <a:t>Aynı tedavi altında RA ve kontrol örnekleri birlikte kümelenir. </a:t>
            </a:r>
          </a:p>
          <a:p>
            <a:endParaRPr lang="tr-TR" sz="1050" dirty="0"/>
          </a:p>
          <a:p>
            <a:r>
              <a:rPr lang="tr-TR" sz="1050" dirty="0"/>
              <a:t> </a:t>
            </a:r>
            <a:r>
              <a:rPr lang="tr-TR" sz="1050" b="1" dirty="0"/>
              <a:t>Yorum:</a:t>
            </a:r>
            <a:r>
              <a:rPr lang="tr-TR" sz="1050" dirty="0"/>
              <a:t/>
            </a:r>
            <a:br>
              <a:rPr lang="tr-TR" sz="1050" dirty="0"/>
            </a:br>
            <a:r>
              <a:rPr lang="tr-TR" sz="1050" dirty="0"/>
              <a:t>Temel fark hastalığın kendisinden değil,</a:t>
            </a:r>
            <a:br>
              <a:rPr lang="tr-TR" sz="1050" dirty="0"/>
            </a:br>
            <a:r>
              <a:rPr lang="tr-TR" sz="1050" b="1" dirty="0"/>
              <a:t>sitokin yanıtından kaynaklanır. </a:t>
            </a:r>
            <a:endParaRPr lang="tr-TR" sz="1050" dirty="0"/>
          </a:p>
        </p:txBody>
      </p:sp>
      <p:sp>
        <p:nvSpPr>
          <p:cNvPr id="25" name="Shape 23"/>
          <p:cNvSpPr/>
          <p:nvPr/>
        </p:nvSpPr>
        <p:spPr>
          <a:xfrm>
            <a:off x="3218688" y="3858768"/>
            <a:ext cx="27889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3310128" y="3950208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050" b="1" dirty="0">
                <a:solidFill>
                  <a:srgbClr val="0070C0"/>
                </a:solidFill>
              </a:rPr>
              <a:t>2. RA ve Kontrol Benzer Davranır</a:t>
            </a:r>
            <a:endParaRPr lang="en-US" sz="1050" b="1" dirty="0">
              <a:solidFill>
                <a:srgbClr val="0070C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310128" y="4352544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10128" y="4261104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63056" y="3858768"/>
            <a:ext cx="2788920" cy="214884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32" name="Shape 30"/>
          <p:cNvSpPr/>
          <p:nvPr/>
        </p:nvSpPr>
        <p:spPr>
          <a:xfrm>
            <a:off x="6163056" y="3858768"/>
            <a:ext cx="278892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6254496" y="39502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050" b="1" dirty="0">
                <a:solidFill>
                  <a:srgbClr val="7030A0"/>
                </a:solidFill>
              </a:rPr>
              <a:t>3. IL-6 Tek Başına Sınırlı Etki Gösterir</a:t>
            </a:r>
            <a:endParaRPr lang="en-US" sz="1000" b="1" dirty="0">
              <a:solidFill>
                <a:srgbClr val="7030A0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6254496" y="4352544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54496" y="4050792"/>
            <a:ext cx="2606040" cy="1677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050" dirty="0"/>
              <a:t>IL-6 uygulanan örnekler, tedavisiz gruba yakın kalır .</a:t>
            </a:r>
          </a:p>
          <a:p>
            <a:endParaRPr lang="tr-TR" sz="1050" dirty="0"/>
          </a:p>
          <a:p>
            <a:r>
              <a:rPr lang="tr-TR" sz="1050" b="1" dirty="0"/>
              <a:t>Sonuç:</a:t>
            </a:r>
            <a:r>
              <a:rPr lang="tr-TR" sz="1050" dirty="0"/>
              <a:t/>
            </a:r>
            <a:br>
              <a:rPr lang="tr-TR" sz="1050" dirty="0"/>
            </a:br>
            <a:r>
              <a:rPr lang="tr-TR" sz="1050" dirty="0"/>
              <a:t>IL-6, IFN-</a:t>
            </a:r>
            <a:r>
              <a:rPr lang="el-GR" sz="1050" dirty="0"/>
              <a:t>γ </a:t>
            </a:r>
            <a:r>
              <a:rPr lang="tr-TR" sz="1050" dirty="0"/>
              <a:t>kadar güçlü bir transkripsiyonel etki oluşturmaz.</a:t>
            </a:r>
          </a:p>
          <a:p>
            <a:pPr marL="0" indent="0">
              <a:buNone/>
            </a:pP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54496" y="504748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107424" y="3858768"/>
            <a:ext cx="2788920" cy="2148840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9107424" y="3858768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9198864" y="39502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000" b="1" dirty="0">
                <a:solidFill>
                  <a:srgbClr val="00B050"/>
                </a:solidFill>
              </a:rPr>
              <a:t>4. IFN-</a:t>
            </a:r>
            <a:r>
              <a:rPr lang="el-GR" sz="1000" b="1" dirty="0">
                <a:solidFill>
                  <a:srgbClr val="00B050"/>
                </a:solidFill>
              </a:rPr>
              <a:t>γ </a:t>
            </a:r>
            <a:r>
              <a:rPr lang="tr-TR" sz="1000" b="1" dirty="0">
                <a:solidFill>
                  <a:srgbClr val="00B050"/>
                </a:solidFill>
              </a:rPr>
              <a:t>ile Aktive Olan Gen Grupları</a:t>
            </a:r>
            <a:endParaRPr lang="en-US" sz="950" b="1" dirty="0">
              <a:solidFill>
                <a:srgbClr val="00B050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9198864" y="4352544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198864" y="4315968"/>
            <a:ext cx="2606040" cy="1237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900" dirty="0"/>
              <a:t>Makale bulgularına göre IFN-</a:t>
            </a:r>
            <a:r>
              <a:rPr lang="el-GR" sz="900" dirty="0"/>
              <a:t>γ </a:t>
            </a:r>
            <a:r>
              <a:rPr lang="tr-TR" sz="900" dirty="0"/>
              <a:t>ile:</a:t>
            </a:r>
          </a:p>
          <a:p>
            <a:r>
              <a:rPr lang="tr-TR" sz="900" dirty="0" err="1"/>
              <a:t>İnflamatuvar</a:t>
            </a:r>
            <a:r>
              <a:rPr lang="tr-TR" sz="900" dirty="0"/>
              <a:t> yanıt genleri ↑ </a:t>
            </a:r>
          </a:p>
          <a:p>
            <a:r>
              <a:rPr lang="tr-TR" sz="900" dirty="0"/>
              <a:t>JAK/STAT sinyal yolu genleri ↑ </a:t>
            </a:r>
          </a:p>
          <a:p>
            <a:r>
              <a:rPr lang="tr-TR" sz="900" dirty="0"/>
              <a:t>Hipoksi ve stres yanıt genleri ↑ </a:t>
            </a:r>
          </a:p>
          <a:p>
            <a:r>
              <a:rPr lang="tr-TR" sz="900" b="1" dirty="0"/>
              <a:t>Yorum:</a:t>
            </a:r>
            <a:r>
              <a:rPr lang="tr-TR" sz="900" dirty="0"/>
              <a:t/>
            </a:r>
            <a:br>
              <a:rPr lang="tr-TR" sz="900" dirty="0"/>
            </a:br>
            <a:r>
              <a:rPr lang="tr-TR" sz="900" dirty="0"/>
              <a:t>Kas hücresi, IFN-</a:t>
            </a:r>
            <a:r>
              <a:rPr lang="el-GR" sz="900" dirty="0"/>
              <a:t>γ </a:t>
            </a:r>
            <a:r>
              <a:rPr lang="tr-TR" sz="900" dirty="0"/>
              <a:t>ile </a:t>
            </a:r>
            <a:r>
              <a:rPr lang="tr-TR" sz="900" b="1" dirty="0" err="1"/>
              <a:t>inflamatuvar</a:t>
            </a:r>
            <a:r>
              <a:rPr lang="tr-TR" sz="900" b="1" dirty="0"/>
              <a:t> bir fenotipe geçer</a:t>
            </a:r>
            <a:r>
              <a:rPr lang="tr-TR" sz="850" b="1" dirty="0"/>
              <a:t>.</a:t>
            </a:r>
            <a:endParaRPr lang="tr-TR" sz="900" dirty="0"/>
          </a:p>
        </p:txBody>
      </p:sp>
      <p:sp>
        <p:nvSpPr>
          <p:cNvPr id="44" name="Text 42"/>
          <p:cNvSpPr/>
          <p:nvPr/>
        </p:nvSpPr>
        <p:spPr>
          <a:xfrm>
            <a:off x="9198864" y="504748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>
    <p:ext uri="{6950BFC3-D8DA-4A85-94F7-54DA5524770B}">
      <p188:commentRel xmlns=""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6019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1186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Volcano Plot — RA + IFN-γ vs Tedavisiz RA: Figür Karşılaştırması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01168" y="566928"/>
            <a:ext cx="1186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Eşik: padj &lt; 0.05  &amp;  |log₂FC| ≥ 2  ·  Upregulated: 95  ·  Downregulated: 57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11868912" cy="2286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74320" y="6620256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Romatoid Artritte İskelet Kasının Moleküler Analizi  ·  Oliver et al. Communications Biology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77472" y="662025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" y="960120"/>
            <a:ext cx="576072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10896" y="960120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Makale Figürü — Fig. 5C  (Oliver et al. 2025)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44768" y="960120"/>
            <a:ext cx="576072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254496" y="960120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Bizim Analizimiz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" y="1261872"/>
            <a:ext cx="57607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6144768" y="1261872"/>
            <a:ext cx="57607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t="23146" r="-37802" b="20727"/>
          <a:stretch>
            <a:fillRect/>
          </a:stretch>
        </p:blipFill>
        <p:spPr>
          <a:xfrm>
            <a:off x="256032" y="1527048"/>
            <a:ext cx="8409850" cy="2574036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9632" y="1298448"/>
            <a:ext cx="5650992" cy="308152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01168" y="4507992"/>
            <a:ext cx="1170432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4"/>
          <p:cNvSpPr/>
          <p:nvPr/>
        </p:nvSpPr>
        <p:spPr>
          <a:xfrm>
            <a:off x="292608" y="45079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2852928" y="45079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Makale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5138928" y="45079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Bizim Analizimiz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8339328" y="4507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Düzeltme / Yorum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201168" y="4782312"/>
            <a:ext cx="117043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19"/>
          <p:cNvSpPr/>
          <p:nvPr/>
        </p:nvSpPr>
        <p:spPr>
          <a:xfrm>
            <a:off x="292608" y="4855464"/>
            <a:ext cx="118872" cy="118872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0"/>
          <p:cNvSpPr/>
          <p:nvPr/>
        </p:nvSpPr>
        <p:spPr>
          <a:xfrm>
            <a:off x="457200" y="4782312"/>
            <a:ext cx="230428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CIITA, GBP4, HLA-DRA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3017520" y="4782312"/>
            <a:ext cx="2240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Etiketli  ✓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5303520" y="4782312"/>
            <a:ext cx="3154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Etiketli  ✓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8503920" y="4782312"/>
            <a:ext cx="3611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bulgular her iki analizde tutarlı — IFN-γ evrensel hedefleri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201168" y="5047488"/>
            <a:ext cx="11704320" cy="265176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5"/>
          <p:cNvSpPr/>
          <p:nvPr/>
        </p:nvSpPr>
        <p:spPr>
          <a:xfrm>
            <a:off x="292608" y="5120640"/>
            <a:ext cx="118872" cy="118872"/>
          </a:xfrm>
          <a:prstGeom prst="lin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6"/>
          <p:cNvSpPr/>
          <p:nvPr/>
        </p:nvSpPr>
        <p:spPr>
          <a:xfrm>
            <a:off x="457200" y="5047488"/>
            <a:ext cx="230428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HLA-E ve WARS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3017520" y="5047488"/>
            <a:ext cx="2240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Etiketli  ✓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303520" y="5047488"/>
            <a:ext cx="3154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 ⚠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8503920" y="5047488"/>
            <a:ext cx="3611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geom_label_repel() listesine ekle: labels=c(...,'HLA-E','WARS')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201168" y="5312664"/>
            <a:ext cx="117043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1"/>
          <p:cNvSpPr/>
          <p:nvPr/>
        </p:nvSpPr>
        <p:spPr>
          <a:xfrm>
            <a:off x="292608" y="5385816"/>
            <a:ext cx="118872" cy="118872"/>
          </a:xfrm>
          <a:prstGeom prst="lin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2"/>
          <p:cNvSpPr/>
          <p:nvPr/>
        </p:nvSpPr>
        <p:spPr>
          <a:xfrm>
            <a:off x="457200" y="5312664"/>
            <a:ext cx="230428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COL1A1 etiketi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3017520" y="5312664"/>
            <a:ext cx="2240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 (COL10A1 var)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5303520" y="5312664"/>
            <a:ext cx="3154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COL1A1 var  ⚠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8503920" y="5312664"/>
            <a:ext cx="3611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COL10A1 (tip-X, kıkırdağa özgü) daha spesifik — COL1A1 çıkarılmalı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201168" y="5577840"/>
            <a:ext cx="11704320" cy="265176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7"/>
          <p:cNvSpPr/>
          <p:nvPr/>
        </p:nvSpPr>
        <p:spPr>
          <a:xfrm>
            <a:off x="292608" y="5650992"/>
            <a:ext cx="118872" cy="118872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38"/>
          <p:cNvSpPr/>
          <p:nvPr/>
        </p:nvSpPr>
        <p:spPr>
          <a:xfrm>
            <a:off x="457200" y="5577840"/>
            <a:ext cx="230428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MYL5 downregülasyonu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3017520" y="5577840"/>
            <a:ext cx="2240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altta  ✓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5303520" y="5577840"/>
            <a:ext cx="3154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altta  ✓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8503920" y="5577840"/>
            <a:ext cx="3611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RA'ya özgü miyojenik kayıp — her iki analizde doğrulanıyor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201168" y="5843016"/>
            <a:ext cx="117043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Shape 43"/>
          <p:cNvSpPr/>
          <p:nvPr/>
        </p:nvSpPr>
        <p:spPr>
          <a:xfrm>
            <a:off x="292608" y="5916168"/>
            <a:ext cx="118872" cy="118872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4"/>
          <p:cNvSpPr/>
          <p:nvPr/>
        </p:nvSpPr>
        <p:spPr>
          <a:xfrm>
            <a:off x="457200" y="5843016"/>
            <a:ext cx="230428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kriterleri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3017520" y="5843016"/>
            <a:ext cx="2240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padj&lt;0.05, |FC|≥2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5303520" y="5843016"/>
            <a:ext cx="3154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Tamamen aynı  ✓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8503920" y="5843016"/>
            <a:ext cx="3611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Benjamini-Hochberg FDR düzeltmesi uygulanmış — metodoloji tutarlı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6019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1186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Volcano Plot RA — Bu Grafik Ne Anlatıyor?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01168" y="566928"/>
            <a:ext cx="1186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nokta bir gen · Sağ üst = güçlü upregülasyon + yüksek anlamlılık · Sol = downregüle genler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11868912" cy="2286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74320" y="6620256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Romatoid Artritte İskelet Kasının Moleküler Analizi  ·  Oliver et al. Communications Biology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77472" y="662025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" y="960120"/>
            <a:ext cx="11704320" cy="213055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84048" y="10241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" y="896112"/>
            <a:ext cx="1132027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tr-TR" sz="1050" b="1" dirty="0"/>
              <a:t>1. IFN-</a:t>
            </a:r>
            <a:r>
              <a:rPr lang="el-GR" sz="1050" b="1" dirty="0"/>
              <a:t>γ </a:t>
            </a:r>
            <a:r>
              <a:rPr lang="tr-TR" sz="1050" b="1" dirty="0"/>
              <a:t>Kas Hücresini İmmün Hücre Gibi Davranıyor</a:t>
            </a:r>
          </a:p>
          <a:p>
            <a:r>
              <a:rPr lang="tr-TR" sz="1050" dirty="0"/>
              <a:t>CIITA ve HLA genleri güçlü şekilde artıyor                                          Kas hücreleri </a:t>
            </a:r>
            <a:r>
              <a:rPr lang="tr-TR" sz="1050" b="1" dirty="0"/>
              <a:t>antijen sunma kapasitesi kazanıyor (MHC-II). </a:t>
            </a:r>
            <a:endParaRPr lang="tr-TR" sz="1050" dirty="0"/>
          </a:p>
          <a:p>
            <a:endParaRPr lang="tr-TR" sz="1050" b="1" dirty="0"/>
          </a:p>
          <a:p>
            <a:r>
              <a:rPr lang="tr-TR" sz="1050" b="1" dirty="0"/>
              <a:t> 2. </a:t>
            </a:r>
            <a:r>
              <a:rPr lang="tr-TR" sz="1050" b="1" dirty="0" err="1"/>
              <a:t>İnflamatuvar</a:t>
            </a:r>
            <a:r>
              <a:rPr lang="tr-TR" sz="1050" b="1" dirty="0"/>
              <a:t> Genler Güçlü Şekilde Aktif</a:t>
            </a:r>
          </a:p>
          <a:p>
            <a:r>
              <a:rPr lang="tr-TR" sz="1050" dirty="0"/>
              <a:t>IRF1, GBP4, BATF2 gibi genler ↑                                                         IFN-</a:t>
            </a:r>
            <a:r>
              <a:rPr lang="el-GR" sz="1050" dirty="0"/>
              <a:t>γ → </a:t>
            </a:r>
            <a:r>
              <a:rPr lang="tr-TR" sz="1050" dirty="0"/>
              <a:t>geniş çaplı </a:t>
            </a:r>
            <a:r>
              <a:rPr lang="tr-TR" sz="1050" b="1" dirty="0" err="1"/>
              <a:t>inflamatuvar</a:t>
            </a:r>
            <a:r>
              <a:rPr lang="tr-TR" sz="1050" b="1" dirty="0"/>
              <a:t> yanıt aktivasyonu</a:t>
            </a:r>
            <a:endParaRPr lang="tr-TR" sz="1050" dirty="0"/>
          </a:p>
          <a:p>
            <a:r>
              <a:rPr lang="tr-TR" sz="1050" b="1" dirty="0"/>
              <a:t> </a:t>
            </a:r>
          </a:p>
          <a:p>
            <a:r>
              <a:rPr lang="tr-TR" sz="1050" b="1" dirty="0"/>
              <a:t>3. Kas Fonksiyonu ile İlgili Genler Azalıyor</a:t>
            </a:r>
          </a:p>
          <a:p>
            <a:r>
              <a:rPr lang="tr-TR" sz="1050" dirty="0"/>
              <a:t>MYL5 gibi kas proteinleri ↓                                                                  Kas hücresi fonksiyon kaybına yöneliyor. </a:t>
            </a:r>
          </a:p>
          <a:p>
            <a:endParaRPr lang="tr-TR" sz="1050" b="1" dirty="0"/>
          </a:p>
          <a:p>
            <a:r>
              <a:rPr lang="tr-TR" sz="1050" b="1" dirty="0"/>
              <a:t>4. Genel Biyolojik Sonuç</a:t>
            </a:r>
          </a:p>
          <a:p>
            <a:r>
              <a:rPr lang="tr-TR" sz="1050" b="1" dirty="0"/>
              <a:t> IFN-</a:t>
            </a:r>
            <a:r>
              <a:rPr lang="el-GR" sz="1050" b="1" dirty="0"/>
              <a:t>γ </a:t>
            </a:r>
            <a:r>
              <a:rPr lang="tr-TR" sz="1050" b="1" dirty="0"/>
              <a:t>etkisi ile:</a:t>
            </a:r>
          </a:p>
          <a:p>
            <a:r>
              <a:rPr lang="tr-TR" sz="1050" b="1" dirty="0"/>
              <a:t>İmmün yanıt ↑ </a:t>
            </a:r>
          </a:p>
          <a:p>
            <a:r>
              <a:rPr lang="tr-TR" sz="1050" b="1" dirty="0"/>
              <a:t>Kas fonksiyonu ↓                                                                                   </a:t>
            </a:r>
            <a:r>
              <a:rPr lang="tr-TR" sz="1050" b="1" dirty="0" err="1"/>
              <a:t>RA’da</a:t>
            </a:r>
            <a:r>
              <a:rPr lang="tr-TR" sz="1050" b="1" dirty="0"/>
              <a:t> kas disfonksiyonu, inflamasyon ile doğrudan ilişkilidir. </a:t>
            </a:r>
          </a:p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01168" y="3145536"/>
            <a:ext cx="1170432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274320" y="3200400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91640" y="320040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log₂FC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14600" y="3200400"/>
            <a:ext cx="704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−log₁₀p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91840" y="3200400"/>
            <a:ext cx="5916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Biyolojik Rol ve Mekanizma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281160" y="320040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Yolak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1168" y="3474720"/>
            <a:ext cx="11704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310896" y="3625596"/>
            <a:ext cx="118872" cy="118872"/>
          </a:xfrm>
          <a:prstGeom prst="lin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75488" y="3474720"/>
            <a:ext cx="1143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CIITA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892808" y="347472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~+10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15768" y="3474720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93008" y="3474720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MHC-II master regülatör. Kas hücrelerine antijen sunum kazandırıyor — otoimmün hedefleşme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317736" y="3566160"/>
            <a:ext cx="1572768" cy="237744"/>
          </a:xfrm>
          <a:prstGeom prst="rect">
            <a:avLst/>
          </a:prstGeom>
          <a:solidFill>
            <a:srgbClr val="B91C1C">
              <a:alpha val="25000"/>
            </a:srgbClr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9317736" y="356616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JAK/STAT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1168" y="3895344"/>
            <a:ext cx="11704320" cy="420624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310896" y="4046220"/>
            <a:ext cx="118872" cy="118872"/>
          </a:xfrm>
          <a:prstGeom prst="lin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75488" y="3895344"/>
            <a:ext cx="1143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HLA-DRA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892808" y="3895344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~+10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15768" y="3895344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493008" y="3895344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MHC-II alfa zinciri. CIITA ile birlikte CD4+ T hücresi aktivasyonu sağlanıyor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317736" y="3986784"/>
            <a:ext cx="1572768" cy="237744"/>
          </a:xfrm>
          <a:prstGeom prst="rect">
            <a:avLst/>
          </a:prstGeom>
          <a:solidFill>
            <a:srgbClr val="B91C1C">
              <a:alpha val="25000"/>
            </a:srgbClr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9317736" y="398678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MHC-II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01168" y="4315968"/>
            <a:ext cx="11704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310896" y="4466844"/>
            <a:ext cx="118872" cy="118872"/>
          </a:xfrm>
          <a:prstGeom prst="lin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475488" y="4315968"/>
            <a:ext cx="1143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HLA-F / HLA-E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892808" y="4315968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+3-4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15768" y="4315968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493008" y="4315968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Non-klasik MHC-I. HLA-E NK hücre aktivasyonunu NKG2A/C üzerinden regüle ediyor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317736" y="4407408"/>
            <a:ext cx="1572768" cy="237744"/>
          </a:xfrm>
          <a:prstGeom prst="rect">
            <a:avLst/>
          </a:prstGeom>
          <a:solidFill>
            <a:srgbClr val="B45309">
              <a:alpha val="25000"/>
            </a:srgbClr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9317736" y="440740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MHC-I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01168" y="4736592"/>
            <a:ext cx="11704320" cy="420624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Shape 44"/>
          <p:cNvSpPr/>
          <p:nvPr/>
        </p:nvSpPr>
        <p:spPr>
          <a:xfrm>
            <a:off x="310896" y="4887468"/>
            <a:ext cx="118872" cy="118872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475488" y="4736592"/>
            <a:ext cx="1143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GBP4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892808" y="4736592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~+8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715768" y="4736592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~220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493008" y="4736592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IFN-γ indüklü GTPaz. İnflamazom aktivasyonu ve hücre içi patojen savunmasında rol oynuyor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317736" y="4828032"/>
            <a:ext cx="1572768" cy="237744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9317736" y="482803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 ISG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01168" y="5157216"/>
            <a:ext cx="11704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Shape 52"/>
          <p:cNvSpPr/>
          <p:nvPr/>
        </p:nvSpPr>
        <p:spPr>
          <a:xfrm>
            <a:off x="310896" y="5308092"/>
            <a:ext cx="118872" cy="118872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Text 53"/>
          <p:cNvSpPr/>
          <p:nvPr/>
        </p:nvSpPr>
        <p:spPr>
          <a:xfrm>
            <a:off x="475488" y="5157216"/>
            <a:ext cx="1143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IRF1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892808" y="5157216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~+4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715768" y="5157216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493008" y="5157216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IFN-γ'nın doğrudan hedefi. STAT1→IRF1 pozitif feedback döngüsü — IFN sinyalini amplifiye ediyor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317736" y="5248656"/>
            <a:ext cx="1572768" cy="237744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0" name="Text 58"/>
          <p:cNvSpPr/>
          <p:nvPr/>
        </p:nvSpPr>
        <p:spPr>
          <a:xfrm>
            <a:off x="9317736" y="524865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JAK/STAT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01168" y="5577840"/>
            <a:ext cx="11704320" cy="420624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2" name="Shape 60"/>
          <p:cNvSpPr/>
          <p:nvPr/>
        </p:nvSpPr>
        <p:spPr>
          <a:xfrm>
            <a:off x="310896" y="5728716"/>
            <a:ext cx="118872" cy="118872"/>
          </a:xfrm>
          <a:prstGeom prst="lin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3" name="Text 61"/>
          <p:cNvSpPr/>
          <p:nvPr/>
        </p:nvSpPr>
        <p:spPr>
          <a:xfrm>
            <a:off x="475488" y="5577840"/>
            <a:ext cx="1143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BATF2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1892808" y="557784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~+5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2715768" y="5577840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3493008" y="5577840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IRF1 ile heterodimer kurarak enflamatuar genleri aktive ediyor. RA'ya özgü kas bulgusudur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9317736" y="5669280"/>
            <a:ext cx="1572768" cy="237744"/>
          </a:xfrm>
          <a:prstGeom prst="rect">
            <a:avLst/>
          </a:prstGeom>
          <a:solidFill>
            <a:srgbClr val="6D28D9">
              <a:alpha val="25000"/>
            </a:srgbClr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8" name="Text 66"/>
          <p:cNvSpPr/>
          <p:nvPr/>
        </p:nvSpPr>
        <p:spPr>
          <a:xfrm>
            <a:off x="9317736" y="566928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IRF1/BATF2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475488" y="5998464"/>
            <a:ext cx="1143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MYL5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1892808" y="5998464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−4/−6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2715768" y="5998464"/>
            <a:ext cx="61072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</a:t>
            </a:r>
            <a:r>
              <a:rPr lang="tr-TR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Miyozin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hafif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zinciri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Kas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kontraksiyonu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için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zorunlu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protein ↓ —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kaybının</a:t>
            </a:r>
            <a:r>
              <a:rPr lang="tr-TR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nedeni</a:t>
            </a:r>
            <a:endParaRPr lang="en-US" sz="1000" dirty="0"/>
          </a:p>
          <a:p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9317736" y="608990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475488" y="6419088"/>
            <a:ext cx="1143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1892808" y="6419088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2715768" y="6419088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3493008" y="6419088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9317736" y="651052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85" name="Shape 76"/>
          <p:cNvSpPr/>
          <p:nvPr/>
        </p:nvSpPr>
        <p:spPr>
          <a:xfrm>
            <a:off x="274320" y="6158484"/>
            <a:ext cx="118872" cy="118872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0" name="Shape 81"/>
          <p:cNvSpPr/>
          <p:nvPr/>
        </p:nvSpPr>
        <p:spPr>
          <a:xfrm>
            <a:off x="9317736" y="6089904"/>
            <a:ext cx="1572768" cy="237744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Miyojenik ↓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>
    <p:ext uri="{6950BFC3-D8DA-4A85-94F7-54DA5524770B}">
      <p188:commentRel xmlns=""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6019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1186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Volcano Plot — Kontrol + IFN-γ vs Tedavisiz Kontrol: Figür Karşılaştırması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01168" y="566928"/>
            <a:ext cx="1186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Eşik: padj &lt; 0.05  &amp;  |log₂FC| ≥ 2  ·  Upregulated: 69  ·  Downregulated: 55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11868912" cy="2286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74320" y="6620256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Romatoid Artritte İskelet Kasının Moleküler Analizi  ·  Oliver et al. Communications Biology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77472" y="662025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" y="960120"/>
            <a:ext cx="576072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10896" y="960120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Makale Figürü — Fig. 5B  (Oliver et al. 2025)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44768" y="960120"/>
            <a:ext cx="57607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254496" y="960120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Bizim Analizimiz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" y="1261872"/>
            <a:ext cx="57607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6144768" y="1261872"/>
            <a:ext cx="57607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23812" t="24629" r="-1457" b="22210"/>
          <a:stretch>
            <a:fillRect/>
          </a:stretch>
        </p:blipFill>
        <p:spPr>
          <a:xfrm>
            <a:off x="219456" y="1434852"/>
            <a:ext cx="5769864" cy="2666232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9632" y="1298448"/>
            <a:ext cx="5650992" cy="308152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01168" y="4507992"/>
            <a:ext cx="1170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4"/>
          <p:cNvSpPr/>
          <p:nvPr/>
        </p:nvSpPr>
        <p:spPr>
          <a:xfrm>
            <a:off x="292608" y="45079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2852928" y="45079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Makale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5138928" y="45079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Bizim Analizimiz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8339328" y="4507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Düzeltme / Yorum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201168" y="4782312"/>
            <a:ext cx="117043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19"/>
          <p:cNvSpPr/>
          <p:nvPr/>
        </p:nvSpPr>
        <p:spPr>
          <a:xfrm>
            <a:off x="292608" y="4855464"/>
            <a:ext cx="118872" cy="118872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0"/>
          <p:cNvSpPr/>
          <p:nvPr/>
        </p:nvSpPr>
        <p:spPr>
          <a:xfrm>
            <a:off x="457200" y="4782312"/>
            <a:ext cx="230428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CD74 (log₂FC ~12)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3017520" y="4782312"/>
            <a:ext cx="2240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 üst  ✓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5303520" y="4782312"/>
            <a:ext cx="3154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Tutarlı  ✓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8503920" y="4782312"/>
            <a:ext cx="3611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Kontrol'e özgü — sağlıklı hücreler MHC-II şaperonlama kapasitesini agresif artırıyor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201168" y="5047488"/>
            <a:ext cx="11704320" cy="265176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5"/>
          <p:cNvSpPr/>
          <p:nvPr/>
        </p:nvSpPr>
        <p:spPr>
          <a:xfrm>
            <a:off x="292608" y="5120640"/>
            <a:ext cx="118872" cy="118872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6"/>
          <p:cNvSpPr/>
          <p:nvPr/>
        </p:nvSpPr>
        <p:spPr>
          <a:xfrm>
            <a:off x="457200" y="5047488"/>
            <a:ext cx="230428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DTX3L paradoksu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3017520" y="5047488"/>
            <a:ext cx="2240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Sol-orta, yüksek p  ✓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303520" y="5047488"/>
            <a:ext cx="3154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Tutarlı  ✓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8503920" y="5047488"/>
            <a:ext cx="3611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FC (~-2) ama −log₁₀p ~270 → her 3 donörde identik değişim. E3 ubiquitin ligaz — negatif feedback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201168" y="5312664"/>
            <a:ext cx="117043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1"/>
          <p:cNvSpPr/>
          <p:nvPr/>
        </p:nvSpPr>
        <p:spPr>
          <a:xfrm>
            <a:off x="292608" y="5385816"/>
            <a:ext cx="118872" cy="118872"/>
          </a:xfrm>
          <a:prstGeom prst="lin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2"/>
          <p:cNvSpPr/>
          <p:nvPr/>
        </p:nvSpPr>
        <p:spPr>
          <a:xfrm>
            <a:off x="457200" y="5312664"/>
            <a:ext cx="230428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WARS, HLA-F, HLA-DRA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3017520" y="5312664"/>
            <a:ext cx="2240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Etiketli  ✓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5303520" y="5312664"/>
            <a:ext cx="3154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 eksik  ⚠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8503920" y="5312664"/>
            <a:ext cx="3611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geom_label_repel() listesine ekle — makaleyle uyum için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201168" y="5577840"/>
            <a:ext cx="11704320" cy="265176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7"/>
          <p:cNvSpPr/>
          <p:nvPr/>
        </p:nvSpPr>
        <p:spPr>
          <a:xfrm>
            <a:off x="292608" y="5650992"/>
            <a:ext cx="118872" cy="118872"/>
          </a:xfrm>
          <a:prstGeom prst="lin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38"/>
          <p:cNvSpPr/>
          <p:nvPr/>
        </p:nvSpPr>
        <p:spPr>
          <a:xfrm>
            <a:off x="457200" y="5577840"/>
            <a:ext cx="230428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TMEM72, RBP1, PCDH10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3017520" y="5577840"/>
            <a:ext cx="2240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tarafta  ✓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5303520" y="5577840"/>
            <a:ext cx="3154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 yok  ⚠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8503920" y="5577840"/>
            <a:ext cx="3611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Downregüle genlerin de etiketlenmesi gerekiyor — sol taraf için etiket listesi oluştur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201168" y="5843016"/>
            <a:ext cx="117043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Shape 43"/>
          <p:cNvSpPr/>
          <p:nvPr/>
        </p:nvSpPr>
        <p:spPr>
          <a:xfrm>
            <a:off x="292608" y="5916168"/>
            <a:ext cx="118872" cy="118872"/>
          </a:xfrm>
          <a:prstGeom prst="lin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4"/>
          <p:cNvSpPr/>
          <p:nvPr/>
        </p:nvSpPr>
        <p:spPr>
          <a:xfrm>
            <a:off x="457200" y="5843016"/>
            <a:ext cx="230428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ekseni maksimumu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3017520" y="5843016"/>
            <a:ext cx="2240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 ✓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5303520" y="5843016"/>
            <a:ext cx="3154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~250'de bitiyor  ⚠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8503920" y="5843016"/>
            <a:ext cx="3611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coord_cartesian(ylim=c(0,310)) ekle — makale skalasıyla eşitlemek için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6019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1186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Volcano — Ne Anlatıyor? RA ile Karşılaştırma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01168" y="566928"/>
            <a:ext cx="1186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Kontrol Hücrelerinde IFN-</a:t>
            </a:r>
            <a:r>
              <a:rPr lang="el-GR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γ </a:t>
            </a:r>
            <a:r>
              <a:rPr lang="tr-TR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Etkisi</a:t>
            </a:r>
            <a:endParaRPr lang="en-US" sz="12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11868912" cy="2286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74320" y="6620256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Romatoid Artritte İskelet Kasının Moleküler Analizi  ·  Oliver et al. Communications Biology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77472" y="662025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" y="932688"/>
            <a:ext cx="5687568" cy="2514600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r>
              <a:rPr lang="tr-TR" b="1" dirty="0"/>
              <a:t> </a:t>
            </a:r>
            <a:r>
              <a:rPr lang="tr-TR" sz="1400" b="1" dirty="0"/>
              <a:t>1. IFN-</a:t>
            </a:r>
            <a:r>
              <a:rPr lang="el-GR" sz="1400" b="1" dirty="0"/>
              <a:t>γ </a:t>
            </a:r>
            <a:r>
              <a:rPr lang="tr-TR" sz="1400" b="1" dirty="0"/>
              <a:t>Güçlü Transkripsiyonel Yanıt Oluşturur. </a:t>
            </a:r>
          </a:p>
          <a:p>
            <a:r>
              <a:rPr lang="tr-TR" sz="1400" dirty="0"/>
              <a:t>Çok sayıda gen anlamlı şekilde artar </a:t>
            </a:r>
          </a:p>
          <a:p>
            <a:r>
              <a:rPr lang="tr-TR" sz="1400" dirty="0"/>
              <a:t>Özellikle interferon ile ilişkili genler ↑ </a:t>
            </a:r>
          </a:p>
          <a:p>
            <a:r>
              <a:rPr lang="tr-TR" sz="1400" b="1" dirty="0"/>
              <a:t>Yorum: </a:t>
            </a:r>
            <a:r>
              <a:rPr lang="tr-TR" sz="1400" dirty="0"/>
              <a:t>IFN-</a:t>
            </a:r>
            <a:r>
              <a:rPr lang="el-GR" sz="1400" dirty="0"/>
              <a:t>γ, </a:t>
            </a:r>
            <a:r>
              <a:rPr lang="tr-TR" sz="1400" dirty="0"/>
              <a:t>sağlıklı kas hücrelerinde de güçlü bir gen ekspresyon yanıtı oluşturur</a:t>
            </a:r>
          </a:p>
          <a:p>
            <a:endParaRPr lang="tr-TR" sz="1400" b="1" dirty="0"/>
          </a:p>
          <a:p>
            <a:r>
              <a:rPr lang="tr-TR" sz="1400" b="1" dirty="0"/>
              <a:t>2. IFN-</a:t>
            </a:r>
            <a:r>
              <a:rPr lang="el-GR" sz="1400" b="1" dirty="0"/>
              <a:t>γ </a:t>
            </a:r>
            <a:r>
              <a:rPr lang="tr-TR" sz="1400" b="1" dirty="0"/>
              <a:t>Yanıtı RA ve Kontrolde Benzer</a:t>
            </a:r>
          </a:p>
          <a:p>
            <a:r>
              <a:rPr lang="tr-TR" sz="1400" dirty="0"/>
              <a:t>Aynı gen grupları her iki durumda da aktive olur </a:t>
            </a:r>
          </a:p>
          <a:p>
            <a:r>
              <a:rPr lang="tr-TR" sz="1400" b="1" dirty="0"/>
              <a:t>Sonuç: </a:t>
            </a:r>
            <a:r>
              <a:rPr lang="tr-TR" sz="1400" dirty="0"/>
              <a:t>IFN-</a:t>
            </a:r>
            <a:r>
              <a:rPr lang="el-GR" sz="1400" dirty="0"/>
              <a:t>γ </a:t>
            </a:r>
            <a:r>
              <a:rPr lang="tr-TR" sz="1400" dirty="0"/>
              <a:t>yanıtı </a:t>
            </a:r>
            <a:r>
              <a:rPr lang="tr-TR" sz="1400" b="1" dirty="0"/>
              <a:t>evrenseldir (hastalığa özgü değil)</a:t>
            </a:r>
            <a:endParaRPr lang="tr-TR" sz="1400" dirty="0"/>
          </a:p>
          <a:p>
            <a:r>
              <a:rPr lang="tr-TR" sz="2800" b="1" dirty="0"/>
              <a:t>  </a:t>
            </a:r>
          </a:p>
        </p:txBody>
      </p:sp>
      <p:sp>
        <p:nvSpPr>
          <p:cNvPr id="10" name="Text 8"/>
          <p:cNvSpPr/>
          <p:nvPr/>
        </p:nvSpPr>
        <p:spPr>
          <a:xfrm>
            <a:off x="384048" y="1024128"/>
            <a:ext cx="5321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371600"/>
            <a:ext cx="5321808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53328" y="960120"/>
            <a:ext cx="5852160" cy="251460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r>
              <a:rPr lang="tr-TR" sz="1400" b="1" dirty="0"/>
              <a:t>3. Bazı Küçük Farklılıklar Gözlenebilir</a:t>
            </a:r>
          </a:p>
          <a:p>
            <a:r>
              <a:rPr lang="tr-TR" sz="1400" dirty="0"/>
              <a:t>Bazı genlerde ekspresyon düzeyi farklı olabilir </a:t>
            </a:r>
          </a:p>
          <a:p>
            <a:r>
              <a:rPr lang="tr-TR" sz="1400" b="1" dirty="0"/>
              <a:t>Yorum: </a:t>
            </a:r>
            <a:r>
              <a:rPr lang="tr-TR" sz="1400" dirty="0"/>
              <a:t>Ancak genel yanıt paterni benzerdir</a:t>
            </a:r>
          </a:p>
          <a:p>
            <a:endParaRPr lang="tr-TR" sz="1400" b="1" dirty="0"/>
          </a:p>
          <a:p>
            <a:r>
              <a:rPr lang="tr-TR" sz="1400" b="1" dirty="0"/>
              <a:t>4. Genel Biyolojik Sonuç</a:t>
            </a:r>
          </a:p>
          <a:p>
            <a:r>
              <a:rPr lang="tr-TR" sz="1400" dirty="0"/>
              <a:t>IFN-</a:t>
            </a:r>
            <a:r>
              <a:rPr lang="el-GR" sz="1400" dirty="0"/>
              <a:t>γ:</a:t>
            </a:r>
          </a:p>
          <a:p>
            <a:r>
              <a:rPr lang="tr-TR" sz="1400" dirty="0"/>
              <a:t>Hem RA hem kontrol kas hücrelerinde benzer transkripsiyonel programı aktive eder . </a:t>
            </a:r>
          </a:p>
          <a:p>
            <a:r>
              <a:rPr lang="tr-TR" sz="1400" b="1" dirty="0"/>
              <a:t>Sonuç: </a:t>
            </a:r>
            <a:r>
              <a:rPr lang="tr-TR" sz="1400" dirty="0"/>
              <a:t>Kas hücresinin IFN-</a:t>
            </a:r>
            <a:r>
              <a:rPr lang="el-GR" sz="1400" dirty="0"/>
              <a:t>γ </a:t>
            </a:r>
            <a:r>
              <a:rPr lang="tr-TR" sz="1400" dirty="0"/>
              <a:t>yanıtı </a:t>
            </a:r>
            <a:r>
              <a:rPr lang="tr-TR" sz="1400" b="1" dirty="0"/>
              <a:t>korunmuştur.</a:t>
            </a:r>
            <a:endParaRPr lang="tr-TR" sz="1400" dirty="0"/>
          </a:p>
          <a:p>
            <a:endParaRPr lang="tr-TR" dirty="0"/>
          </a:p>
        </p:txBody>
      </p:sp>
      <p:sp>
        <p:nvSpPr>
          <p:cNvPr id="13" name="Text 11"/>
          <p:cNvSpPr/>
          <p:nvPr/>
        </p:nvSpPr>
        <p:spPr>
          <a:xfrm>
            <a:off x="6236208" y="102412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36208" y="1371600"/>
            <a:ext cx="54864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01168" y="3593592"/>
            <a:ext cx="117043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84048" y="365760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vs Kontrol — IFN-γ Yanıtının Karşılaştırmalı Analizi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01168" y="4005072"/>
            <a:ext cx="117043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292608" y="40050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/ Özellik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852928" y="4005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+ IFN-γ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87568" y="4005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+ IFN-γ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522208" y="40050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Biyolojik Anlam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01168" y="4279392"/>
            <a:ext cx="11704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292608" y="4407408"/>
            <a:ext cx="118872" cy="118872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457200" y="427939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CIITA, IRF1, BATF2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17520" y="42793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ikisinde 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52160" y="42793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ikisinde 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0" y="427939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Evrensel IFN-γ etkisi — JAK/STAT yolağı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1168" y="4645152"/>
            <a:ext cx="1170432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292608" y="4773168"/>
            <a:ext cx="118872" cy="118872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457200" y="464515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HLA-E, WARS, GBP4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017520" y="464515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ikisinde 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52160" y="464515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ikisinde 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686800" y="464515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Evrensel ISG aktivasyonu — temel interferon yanıtı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1168" y="5010912"/>
            <a:ext cx="11704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292608" y="5138928"/>
            <a:ext cx="118872" cy="118872"/>
          </a:xfrm>
          <a:prstGeom prst="lin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457200" y="501091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CD74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017520" y="501091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Düşük/görünmez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52160" y="501091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log₂FC ~12 — kontrol'e özgü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686800" y="501091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Kontrol'de güçlü MHC-II şaperonlama kapasitesi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01168" y="5376672"/>
            <a:ext cx="1170432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292608" y="5504688"/>
            <a:ext cx="118872" cy="118872"/>
          </a:xfrm>
          <a:prstGeom prst="lin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457200" y="537667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PSMB dominant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017520" y="537667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PSMB8 (β5i)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52160" y="537667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PSMB9 (β1i)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686800" y="537667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peptid repertuarı → farklı otoantijen profili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01168" y="5742432"/>
            <a:ext cx="11704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Shape 45"/>
          <p:cNvSpPr/>
          <p:nvPr/>
        </p:nvSpPr>
        <p:spPr>
          <a:xfrm>
            <a:off x="292608" y="5870448"/>
            <a:ext cx="118872" cy="118872"/>
          </a:xfrm>
          <a:prstGeom prst="lin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457200" y="574243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MYL5 downregülasyonu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017520" y="57424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Belirgin ↓ — RA'ya özgü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852160" y="57424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Hafif ↓ veya yok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686800" y="574243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RA'ya özgü miyojenik kayıp — kas fonksiyon bozukluğu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01168" y="6108192"/>
            <a:ext cx="1170432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Shape 51"/>
          <p:cNvSpPr/>
          <p:nvPr/>
        </p:nvSpPr>
        <p:spPr>
          <a:xfrm>
            <a:off x="292608" y="6236208"/>
            <a:ext cx="118872" cy="118872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Text 52"/>
          <p:cNvSpPr/>
          <p:nvPr/>
        </p:nvSpPr>
        <p:spPr>
          <a:xfrm>
            <a:off x="457200" y="610819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IDO1 upregülasyonu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017520" y="61081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düzey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852160" y="61081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yüksek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686800" y="610819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Triptofan katabolizması — kompensatuar immün tolerans mekanizması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>
    <p:ext uri="{6950BFC3-D8DA-4A85-94F7-54DA5524770B}">
      <p188:commentRel xmlns=""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6019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1186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Metodolojik </a:t>
            </a:r>
            <a:r>
              <a:rPr lang="en-US" sz="2600" b="1" dirty="0" err="1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Limitasyonlar</a:t>
            </a: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01168" y="566928"/>
            <a:ext cx="1186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tasarımının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sınırlılıkları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11868912" cy="2286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74320" y="6620256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Romatoid Artritte İskelet Kasının Moleküler Analizi  ·  Oliver et al. Communications Biology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77472" y="662025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tr-TR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" y="960120"/>
            <a:ext cx="2249424" cy="34747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10" name="Shape 8"/>
          <p:cNvSpPr/>
          <p:nvPr/>
        </p:nvSpPr>
        <p:spPr>
          <a:xfrm>
            <a:off x="201168" y="960120"/>
            <a:ext cx="2249424" cy="45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01168" y="1051560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92608" y="1618488"/>
            <a:ext cx="2066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 Donor per Grup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2039112"/>
            <a:ext cx="1883664" cy="22860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310896" y="2130552"/>
            <a:ext cx="202996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tr-TR" sz="1000" b="1" dirty="0"/>
              <a:t> Küçük Örneklem (n=3)</a:t>
            </a:r>
          </a:p>
          <a:p>
            <a:r>
              <a:rPr lang="tr-TR" sz="1000" dirty="0"/>
              <a:t>Her grup sadece 3 donörden oluşuyor. </a:t>
            </a:r>
          </a:p>
          <a:p>
            <a:r>
              <a:rPr lang="tr-TR" sz="1000" dirty="0"/>
              <a:t>Bireysel farklılıklar sonucu etkileyebilir. </a:t>
            </a:r>
            <a:r>
              <a:rPr lang="tr-TR" sz="1000" b="1" dirty="0"/>
              <a:t>Bulgular güçlü ama genelleme sınırlı. </a:t>
            </a:r>
          </a:p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78608" y="1051560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2779776" y="1014984"/>
            <a:ext cx="2249424" cy="3474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2779776" y="950976"/>
            <a:ext cx="2249424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182880" y="1051560"/>
            <a:ext cx="7022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🧫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23088" y="1618488"/>
            <a:ext cx="67909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Vitro Model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06954" y="2039112"/>
            <a:ext cx="1883664" cy="22860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2843784" y="2130552"/>
            <a:ext cx="202996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tr-TR" sz="1000" b="1" dirty="0" err="1"/>
              <a:t>In</a:t>
            </a:r>
            <a:r>
              <a:rPr lang="tr-TR" sz="1000" b="1" dirty="0"/>
              <a:t> Vitro Model</a:t>
            </a:r>
          </a:p>
          <a:p>
            <a:r>
              <a:rPr lang="tr-TR" sz="1000" dirty="0"/>
              <a:t>Çalışma laboratuvar ortamında yapılmış . Gerçek doku ortamı (immün hücreler, damarlar) yok </a:t>
            </a:r>
          </a:p>
          <a:p>
            <a:r>
              <a:rPr lang="tr-TR" sz="1000" b="1" dirty="0" err="1"/>
              <a:t>In</a:t>
            </a:r>
            <a:r>
              <a:rPr lang="tr-TR" sz="1000" b="1" dirty="0"/>
              <a:t> </a:t>
            </a:r>
            <a:r>
              <a:rPr lang="tr-TR" sz="1000" b="1" dirty="0" err="1"/>
              <a:t>vivo</a:t>
            </a:r>
            <a:r>
              <a:rPr lang="tr-TR" sz="1000" b="1" dirty="0"/>
              <a:t> doğrulama gerekli</a:t>
            </a:r>
          </a:p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04688" y="982980"/>
            <a:ext cx="2249424" cy="34747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5504688" y="992124"/>
            <a:ext cx="2249424" cy="45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5376672" y="1045210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468112" y="1543558"/>
            <a:ext cx="2066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IFN-γ Dozu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60720" y="1987042"/>
            <a:ext cx="1883664" cy="22860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5614416" y="2098548"/>
            <a:ext cx="202996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Doz-yanıt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ilişkisi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değerlendirilmemiş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Fizyolojik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sinovyal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sıvısındaki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IFN-γ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konsantrasyonları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aralıkta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değişir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tr-TR" sz="9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tr-TR" sz="1000" b="1" dirty="0"/>
              <a:t>Sadece tek konsantrasyon test </a:t>
            </a:r>
            <a:r>
              <a:rPr lang="tr-TR" sz="1000" b="1" dirty="0" err="1"/>
              <a:t>edilmiştir.Farklı</a:t>
            </a:r>
            <a:r>
              <a:rPr lang="tr-TR" sz="1000" b="1" dirty="0"/>
              <a:t> dozlar farklı sonuçlar verebilir.</a:t>
            </a:r>
            <a:endParaRPr lang="en-US" sz="950" b="1" dirty="0"/>
          </a:p>
        </p:txBody>
      </p:sp>
      <p:sp>
        <p:nvSpPr>
          <p:cNvPr id="33" name="Shape 31"/>
          <p:cNvSpPr/>
          <p:nvPr/>
        </p:nvSpPr>
        <p:spPr>
          <a:xfrm>
            <a:off x="8458200" y="1051560"/>
            <a:ext cx="2249424" cy="3474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8458200" y="1010412"/>
            <a:ext cx="2249424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8488680" y="1060704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8702040" y="1554480"/>
            <a:ext cx="2066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Doğrulama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641080" y="1994154"/>
            <a:ext cx="1883664" cy="22860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8641080" y="2160524"/>
            <a:ext cx="202996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tr-TR" sz="1000" dirty="0"/>
              <a:t>Bulgular çoğunlukla gen ekspresyon düzeyindedir.</a:t>
            </a:r>
            <a:br>
              <a:rPr lang="tr-TR" sz="1000" dirty="0"/>
            </a:br>
            <a:r>
              <a:rPr lang="tr-TR" sz="1000" dirty="0"/>
              <a:t>Protein ve fonksiyonel doğrulamalar sınırlıdır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84048" y="49560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913632" y="55046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>
    <p:ext uri="{6950BFC3-D8DA-4A85-94F7-54DA5524770B}">
      <p188:commentRel xmlns=""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6019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01168" y="109728"/>
            <a:ext cx="1186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ve Ana Bulgular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01168" y="566928"/>
            <a:ext cx="1186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</a:t>
            </a:r>
            <a:r>
              <a:rPr lang="tr-TR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nın</a:t>
            </a:r>
            <a:r>
              <a:rPr lang="tr-TR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temel bulguları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11868912" cy="2286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74320" y="6620256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Romatoid Artritte İskelet Kasının Moleküler Analizi  ·  Oliver et al. Communications Biology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77472" y="662025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tr-TR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" y="960120"/>
            <a:ext cx="5669280" cy="24231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201168" y="960120"/>
            <a:ext cx="54864" cy="2423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347472" y="1069848"/>
            <a:ext cx="420624" cy="420624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47472" y="1069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" y="1051560"/>
            <a:ext cx="4864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IFN-γ Dominant Transkriptomik Yeniden Programlama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7824" y="1545336"/>
            <a:ext cx="4864608" cy="2286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877824" y="1618488"/>
            <a:ext cx="4864608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tr-TR" sz="1100" dirty="0"/>
              <a:t>PCA sonuçları IFN-</a:t>
            </a:r>
            <a:r>
              <a:rPr lang="el-GR" sz="1100" dirty="0"/>
              <a:t>γ’</a:t>
            </a:r>
            <a:r>
              <a:rPr lang="tr-TR" sz="1100" dirty="0" err="1"/>
              <a:t>nın</a:t>
            </a:r>
            <a:r>
              <a:rPr lang="tr-TR" sz="1100" dirty="0"/>
              <a:t> hem RA hem kontrolde güçlü ve baskın bir etkiye sahip olduğunu gösterir.</a:t>
            </a:r>
            <a:br>
              <a:rPr lang="tr-TR" sz="1100" dirty="0"/>
            </a:br>
            <a:r>
              <a:rPr lang="tr-TR" sz="1100" dirty="0"/>
              <a:t>Bu etki geniş çaplı gen ekspresyon değişiklikleri ile ilişkilidir. 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71616" y="960120"/>
            <a:ext cx="5669280" cy="24231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6071616" y="960120"/>
            <a:ext cx="54864" cy="24231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6217920" y="1069848"/>
            <a:ext cx="420624" cy="420624"/>
          </a:xfrm>
          <a:prstGeom prst="lin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217920" y="1069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48272" y="1051560"/>
            <a:ext cx="4864608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200" b="1" dirty="0">
                <a:solidFill>
                  <a:srgbClr val="C00000"/>
                </a:solidFill>
              </a:rPr>
              <a:t>Kas Hücreleri İmmün Özellikler Kazanıyor</a:t>
            </a:r>
            <a:endParaRPr lang="tr-TR" sz="11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48272" y="1545336"/>
            <a:ext cx="4864608" cy="22860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748272" y="1618488"/>
            <a:ext cx="4864608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CIITA ve HLA-DRA upregülasyonu kas hücrelerine MHC-II antijen sunumu kazandırıyor. PSMB8/9 aktivasyonu immünoproteasomu devreye sokuyor. Bu genler normalde kas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hücrelerinde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düsük</a:t>
            </a:r>
            <a:r>
              <a:rPr lang="tr-T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düzeyde ekspres edilir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</a:t>
            </a:r>
            <a:r>
              <a:rPr lang="tr-TR" sz="1100" b="1" dirty="0"/>
              <a:t>IFN-</a:t>
            </a:r>
            <a:r>
              <a:rPr lang="el-GR" sz="1100" b="1" dirty="0"/>
              <a:t>γ </a:t>
            </a:r>
            <a:r>
              <a:rPr lang="tr-TR" sz="1100" b="1" dirty="0"/>
              <a:t>kas hücrelerine antijen sunum özellikleri kazandırıyor</a:t>
            </a:r>
            <a:r>
              <a:rPr lang="tr-TR" sz="1100" dirty="0"/>
              <a:t>. </a:t>
            </a:r>
          </a:p>
        </p:txBody>
      </p:sp>
      <p:sp>
        <p:nvSpPr>
          <p:cNvPr id="23" name="Shape 21"/>
          <p:cNvSpPr/>
          <p:nvPr/>
        </p:nvSpPr>
        <p:spPr>
          <a:xfrm>
            <a:off x="201168" y="3538728"/>
            <a:ext cx="5669280" cy="2423160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201168" y="3538728"/>
            <a:ext cx="54864" cy="2423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347472" y="3648456"/>
            <a:ext cx="420624" cy="420624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347472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7824" y="3630168"/>
            <a:ext cx="4864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RA'ya Özgü Ek Katman Mevcut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77824" y="4123944"/>
            <a:ext cx="4864608" cy="22860"/>
          </a:xfrm>
          <a:prstGeom prst="rect">
            <a:avLst/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877824" y="4197096"/>
            <a:ext cx="4864608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tr-TR" sz="1100" dirty="0" err="1"/>
              <a:t>RA’da</a:t>
            </a:r>
            <a:r>
              <a:rPr lang="tr-TR" sz="1100" dirty="0"/>
              <a:t> kas fonksiyonu ile ilişkili genlerde azalma ve stres yolaklarında artış görülür.</a:t>
            </a:r>
            <a:br>
              <a:rPr lang="tr-TR" sz="1100" dirty="0"/>
            </a:br>
            <a:r>
              <a:rPr lang="tr-TR" sz="1100" dirty="0"/>
              <a:t>Bu durum RA kas patolojisinin sadece IFN-</a:t>
            </a:r>
            <a:r>
              <a:rPr lang="el-GR" sz="1100" dirty="0"/>
              <a:t>γ </a:t>
            </a:r>
            <a:r>
              <a:rPr lang="tr-TR" sz="1100" dirty="0"/>
              <a:t>ile açıklanamayacağını gösterir.</a:t>
            </a:r>
          </a:p>
          <a:p>
            <a:pPr marL="0" indent="0" algn="l">
              <a:buNone/>
            </a:pPr>
            <a:r>
              <a:rPr lang="tr-T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71616" y="3538728"/>
            <a:ext cx="5669280" cy="24231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6071616" y="3538728"/>
            <a:ext cx="54864" cy="242316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6217920" y="3648456"/>
            <a:ext cx="420624" cy="420624"/>
          </a:xfrm>
          <a:prstGeom prst="lin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6217920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48272" y="3630168"/>
            <a:ext cx="4864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200" b="1" dirty="0">
                <a:solidFill>
                  <a:srgbClr val="00B050"/>
                </a:solidFill>
              </a:rPr>
              <a:t>JAK İnhibisyonu Fonksiyonu İyileştirir </a:t>
            </a:r>
            <a:endParaRPr lang="en-US" sz="1150" b="1" dirty="0">
              <a:solidFill>
                <a:srgbClr val="00B050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748272" y="4123944"/>
            <a:ext cx="4864608" cy="22860"/>
          </a:xfrm>
          <a:prstGeom prst="rect">
            <a:avLst/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6748272" y="4197096"/>
            <a:ext cx="4864608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tr-TR" sz="1100" dirty="0" err="1"/>
              <a:t>Tofacitinib</a:t>
            </a:r>
            <a:r>
              <a:rPr lang="tr-TR" sz="1100" dirty="0"/>
              <a:t> ile kas fonksiyonunda belirgin iyileşme gözlenmiştir.</a:t>
            </a:r>
            <a:br>
              <a:rPr lang="tr-TR" sz="1100" dirty="0"/>
            </a:br>
            <a:r>
              <a:rPr lang="tr-TR" sz="1100" dirty="0"/>
              <a:t>Bu durum IFN-</a:t>
            </a:r>
            <a:r>
              <a:rPr lang="el-GR" sz="1100" dirty="0"/>
              <a:t>γ/</a:t>
            </a:r>
            <a:r>
              <a:rPr lang="tr-TR" sz="1100" dirty="0"/>
              <a:t>JAK/STAT yolunun fonksiyonel olarak önemli olduğunu destekler</a:t>
            </a:r>
            <a:r>
              <a:rPr lang="tr-TR" sz="1050" dirty="0"/>
              <a:t>. Ayrıca IFN-gamma sinyalinin sadece moleküler değil, fonksiyonel olarak da önemli olduğunu gösteriyor.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01168" y="5989320"/>
            <a:ext cx="11704320" cy="6126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384048" y="604418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Translasyonel Mesaj: 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83280" y="60441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050" dirty="0">
                <a:solidFill>
                  <a:schemeClr val="bg1"/>
                </a:solidFill>
              </a:rPr>
              <a:t>IFN-</a:t>
            </a:r>
            <a:r>
              <a:rPr lang="el-GR" sz="1050" dirty="0">
                <a:solidFill>
                  <a:schemeClr val="bg1"/>
                </a:solidFill>
              </a:rPr>
              <a:t>γ/</a:t>
            </a:r>
            <a:r>
              <a:rPr lang="tr-TR" sz="1050" dirty="0">
                <a:solidFill>
                  <a:schemeClr val="bg1"/>
                </a:solidFill>
              </a:rPr>
              <a:t>JAK/STAT ekseni </a:t>
            </a:r>
            <a:r>
              <a:rPr lang="tr-TR" sz="1050" dirty="0" err="1">
                <a:solidFill>
                  <a:schemeClr val="bg1"/>
                </a:solidFill>
              </a:rPr>
              <a:t>RA’da</a:t>
            </a:r>
            <a:r>
              <a:rPr lang="tr-TR" sz="1050" dirty="0">
                <a:solidFill>
                  <a:schemeClr val="bg1"/>
                </a:solidFill>
              </a:rPr>
              <a:t> kas disfonksiyonu ile ilişkilidir ve potansiyel bir terapötik hedef olabilir.</a:t>
            </a:r>
          </a:p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SEA Nedi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54864" cy="6601968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 lang="tr-TR"/>
          </a:p>
        </p:txBody>
      </p:sp>
      <p:sp>
        <p:nvSpPr>
          <p:cNvPr id="3" name="Title"/>
          <p:cNvSpPr/>
          <p:nvPr/>
        </p:nvSpPr>
        <p:spPr>
          <a:xfrm>
            <a:off x="201168" y="109728"/>
            <a:ext cx="1186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2600" b="1" dirty="0">
                <a:solidFill>
                  <a:srgbClr val="0F2D52"/>
                </a:solidFill>
                <a:latin typeface="Calibri"/>
              </a:rPr>
              <a:t>GSEA Nedir? — Gen Seti Zenginleşme Analizi</a:t>
            </a:r>
          </a:p>
        </p:txBody>
      </p:sp>
      <p:sp>
        <p:nvSpPr>
          <p:cNvPr id="4" name="Sub"/>
          <p:cNvSpPr/>
          <p:nvPr/>
        </p:nvSpPr>
        <p:spPr>
          <a:xfrm>
            <a:off x="201168" y="566928"/>
            <a:ext cx="1186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200" i="1" dirty="0">
                <a:solidFill>
                  <a:srgbClr val="64748B"/>
                </a:solidFill>
                <a:latin typeface="Calibri"/>
              </a:rPr>
              <a:t>Gene Set Enrichment Analysis  ·  Subramanian et al. 2005  ·  Bu çalışmada: Hallmark gen seti · clusterProfiler (R) · DESeq2 sıralı liste</a:t>
            </a:r>
          </a:p>
        </p:txBody>
      </p:sp>
      <p:sp>
        <p:nvSpPr>
          <p:cNvPr id="5" name="Div"/>
          <p:cNvSpPr/>
          <p:nvPr/>
        </p:nvSpPr>
        <p:spPr>
          <a:xfrm>
            <a:off x="201168" y="822960"/>
            <a:ext cx="11868912" cy="22860"/>
          </a:xfrm>
          <a:prstGeom prst="rect">
            <a:avLst/>
          </a:prstGeom>
          <a:solidFill>
            <a:srgbClr val="BFDBFE"/>
          </a:solidFill>
        </p:spPr>
        <p:txBody>
          <a:bodyPr/>
          <a:lstStyle/>
          <a:p>
            <a:endParaRPr/>
          </a:p>
        </p:txBody>
      </p:sp>
      <p:sp>
        <p:nvSpPr>
          <p:cNvPr id="10" name="LColHdrBg"/>
          <p:cNvSpPr/>
          <p:nvPr/>
        </p:nvSpPr>
        <p:spPr>
          <a:xfrm>
            <a:off x="201168" y="876960"/>
            <a:ext cx="5700000" cy="310000"/>
          </a:xfrm>
          <a:prstGeom prst="rect">
            <a:avLst/>
          </a:prstGeom>
          <a:solidFill>
            <a:srgbClr val="1E40AF"/>
          </a:solidFill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tr-TR" sz="1300" b="1" dirty="0">
                <a:solidFill>
                  <a:srgbClr val="FFFFFF"/>
                </a:solidFill>
                <a:latin typeface="Calibri"/>
              </a:rPr>
              <a:t>💡  GSEA Nedir ve Neden Kullanılır?</a:t>
            </a:r>
          </a:p>
        </p:txBody>
      </p:sp>
      <p:sp>
        <p:nvSpPr>
          <p:cNvPr id="11" name="LColBg"/>
          <p:cNvSpPr/>
          <p:nvPr/>
        </p:nvSpPr>
        <p:spPr>
          <a:xfrm>
            <a:off x="201168" y="1186960"/>
            <a:ext cx="5700000" cy="2050000"/>
          </a:xfrm>
          <a:prstGeom prst="rect">
            <a:avLst/>
          </a:prstGeom>
          <a:solidFill>
            <a:srgbClr val="EFF6FF"/>
          </a:solidFill>
        </p:spPr>
        <p:txBody>
          <a:bodyPr/>
          <a:lstStyle/>
          <a:p>
            <a:endParaRPr/>
          </a:p>
        </p:txBody>
      </p:sp>
      <p:sp>
        <p:nvSpPr>
          <p:cNvPr id="12" name="LColText"/>
          <p:cNvSpPr/>
          <p:nvPr/>
        </p:nvSpPr>
        <p:spPr>
          <a:xfrm>
            <a:off x="201168" y="1186960"/>
            <a:ext cx="5700000" cy="2050000"/>
          </a:xfrm>
          <a:prstGeom prst="rect">
            <a:avLst/>
          </a:prstGeom>
          <a:noFill/>
          <a:ln/>
        </p:spPr>
        <p:txBody>
          <a:bodyPr wrap="square" lIns="182880" tIns="120000" rIns="182880" bIns="91440" rtlCol="0" anchor="t"/>
          <a:lstStyle/>
          <a:p>
            <a:pPr marL="0" indent="0">
              <a:buNone/>
            </a:pPr>
            <a:r>
              <a:rPr lang="tr-TR" sz="1050" b="1" dirty="0">
                <a:solidFill>
                  <a:srgbClr val="1E3A5F"/>
                </a:solidFill>
                <a:latin typeface="Calibri"/>
              </a:rPr>
              <a:t>Temel Problem:</a:t>
            </a:r>
          </a:p>
          <a:p>
            <a:pPr marL="0" indent="0">
              <a:buNone/>
            </a:pPr>
            <a:r>
              <a:rPr lang="tr-TR" sz="1000" dirty="0">
                <a:solidFill>
                  <a:srgbClr val="374151"/>
                </a:solidFill>
                <a:latin typeface="Calibri"/>
              </a:rPr>
              <a:t>RNA-seq'te binlerce gen değişir. Hangi bireysel genin önemli olduğuna bakarsak resmin tamamını kaçırırız. GSEA, tek tek genlerin yerine gen gruplarının (biyolojik yolakların) koordineli değişip değişmediğini sorar.</a:t>
            </a:r>
          </a:p>
          <a:p>
            <a:pPr marL="0" indent="0">
              <a:buNone/>
            </a:pPr>
            <a:r>
              <a:rPr lang="tr-TR" sz="1050" b="1" dirty="0">
                <a:solidFill>
                  <a:srgbClr val="1E3A5F"/>
                </a:solidFill>
                <a:latin typeface="Calibri"/>
              </a:rPr>
              <a:t>Ne Yapar?</a:t>
            </a:r>
          </a:p>
          <a:p>
            <a:pPr marL="0" indent="0">
              <a:buNone/>
            </a:pPr>
            <a:r>
              <a:rPr lang="tr-TR" sz="1000" dirty="0">
                <a:solidFill>
                  <a:srgbClr val="374151"/>
                </a:solidFill>
                <a:latin typeface="Calibri"/>
              </a:rPr>
              <a:t>Tüm genleri fold change'e göre sıralar (en çok upregüle → en çok downregüle). Sonra her gen setinin bu sıralamada rastgele mi yoksa bir uçta mı toplandığını istatistiksel olarak test eder.</a:t>
            </a:r>
          </a:p>
          <a:p>
            <a:pPr marL="0" indent="0">
              <a:buNone/>
            </a:pPr>
            <a:r>
              <a:rPr lang="tr-TR" sz="1050" b="1" dirty="0">
                <a:solidFill>
                  <a:srgbClr val="1E3A5F"/>
                </a:solidFill>
                <a:latin typeface="Calibri"/>
              </a:rPr>
              <a:t>Bu Çalışmada Neden Kullandık?</a:t>
            </a:r>
          </a:p>
          <a:p>
            <a:pPr marL="0" indent="0">
              <a:buNone/>
            </a:pPr>
            <a:r>
              <a:rPr lang="tr-TR" sz="1000" dirty="0">
                <a:solidFill>
                  <a:srgbClr val="374151"/>
                </a:solidFill>
                <a:latin typeface="Calibri"/>
              </a:rPr>
              <a:t>IFN-γ'nın RA ve kontrol miyobundllarında farklı biyolojik yolakları nasıl aktive ettiğini anlamak için. Hipoksi, MTOR1 ve UPR yolaklarının yalnızca RA'da anlamlı olduğunu ancak GSEA ile tespit edebildik.</a:t>
            </a:r>
          </a:p>
        </p:txBody>
      </p:sp>
      <p:sp>
        <p:nvSpPr>
          <p:cNvPr id="20" name="RColHdrBg"/>
          <p:cNvSpPr/>
          <p:nvPr/>
        </p:nvSpPr>
        <p:spPr>
          <a:xfrm>
            <a:off x="6150000" y="876960"/>
            <a:ext cx="5920000" cy="310000"/>
          </a:xfrm>
          <a:prstGeom prst="rect">
            <a:avLst/>
          </a:prstGeom>
          <a:solidFill>
            <a:srgbClr val="065F46"/>
          </a:solidFill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tr-TR" sz="1300" b="1" dirty="0">
                <a:solidFill>
                  <a:srgbClr val="FFFFFF"/>
                </a:solidFill>
                <a:latin typeface="Calibri"/>
              </a:rPr>
              <a:t>🔄  GSEA Nasıl Çalışır? — Adım Adım</a:t>
            </a:r>
          </a:p>
        </p:txBody>
      </p:sp>
      <p:sp>
        <p:nvSpPr>
          <p:cNvPr id="30" name="Step1Bg"/>
          <p:cNvSpPr/>
          <p:nvPr/>
        </p:nvSpPr>
        <p:spPr>
          <a:xfrm>
            <a:off x="6150000" y="1220000"/>
            <a:ext cx="5920000" cy="270000"/>
          </a:xfrm>
          <a:prstGeom prst="rect">
            <a:avLst/>
          </a:prstGeom>
          <a:solidFill>
            <a:srgbClr val="D1FAE5"/>
          </a:solidFill>
        </p:spPr>
        <p:txBody>
          <a:bodyPr/>
          <a:lstStyle/>
          <a:p>
            <a:endParaRPr/>
          </a:p>
        </p:txBody>
      </p:sp>
      <p:sp>
        <p:nvSpPr>
          <p:cNvPr id="31" name="Step1Num"/>
          <p:cNvSpPr/>
          <p:nvPr/>
        </p:nvSpPr>
        <p:spPr>
          <a:xfrm>
            <a:off x="6150000" y="1220000"/>
            <a:ext cx="270000" cy="270000"/>
          </a:xfrm>
          <a:prstGeom prst="ellipse">
            <a:avLst/>
          </a:prstGeom>
          <a:solidFill>
            <a:srgbClr val="065F46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10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2" name="Step1Text"/>
          <p:cNvSpPr/>
          <p:nvPr/>
        </p:nvSpPr>
        <p:spPr>
          <a:xfrm>
            <a:off x="6470000" y="1220000"/>
            <a:ext cx="5600000" cy="270000"/>
          </a:xfrm>
          <a:prstGeom prst="rect">
            <a:avLst/>
          </a:prstGeom>
          <a:noFill/>
          <a:ln/>
        </p:spPr>
        <p:txBody>
          <a:bodyPr wrap="square" lIns="45720" rIns="45720" rtlCol="0" anchor="ctr"/>
          <a:lstStyle/>
          <a:p>
            <a:pPr marL="0" indent="0">
              <a:buNone/>
            </a:pPr>
            <a:r>
              <a:rPr lang="tr-TR" sz="900" b="1" dirty="0">
                <a:solidFill>
                  <a:srgbClr val="065F46"/>
                </a:solidFill>
                <a:latin typeface="Calibri"/>
              </a:rPr>
              <a:t>DESeq2 diferansiyel ekspresyon: </a:t>
            </a:r>
            <a:r>
              <a:rPr lang="tr-TR" sz="900" dirty="0">
                <a:solidFill>
                  <a:srgbClr val="374151"/>
                </a:solidFill>
                <a:latin typeface="Calibri"/>
              </a:rPr>
              <a:t>tüm genlere log2FC ve p-değeri</a:t>
            </a:r>
          </a:p>
        </p:txBody>
      </p:sp>
      <p:sp>
        <p:nvSpPr>
          <p:cNvPr id="33" name="Arrow1"/>
          <p:cNvSpPr/>
          <p:nvPr/>
        </p:nvSpPr>
        <p:spPr>
          <a:xfrm>
            <a:off x="6960000" y="1495000"/>
            <a:ext cx="150000" cy="150000"/>
          </a:xfrm>
          <a:prstGeom prst="downArrow">
            <a:avLst/>
          </a:prstGeom>
          <a:solidFill>
            <a:srgbClr val="065F46"/>
          </a:solidFill>
        </p:spPr>
        <p:txBody>
          <a:bodyPr/>
          <a:lstStyle/>
          <a:p>
            <a:endParaRPr/>
          </a:p>
        </p:txBody>
      </p:sp>
      <p:sp>
        <p:nvSpPr>
          <p:cNvPr id="34" name="Step2Bg"/>
          <p:cNvSpPr/>
          <p:nvPr/>
        </p:nvSpPr>
        <p:spPr>
          <a:xfrm>
            <a:off x="6150000" y="1670000"/>
            <a:ext cx="5920000" cy="270000"/>
          </a:xfrm>
          <a:prstGeom prst="rect">
            <a:avLst/>
          </a:prstGeom>
          <a:solidFill>
            <a:srgbClr val="D1FAE5"/>
          </a:solidFill>
        </p:spPr>
        <p:txBody>
          <a:bodyPr/>
          <a:lstStyle/>
          <a:p>
            <a:endParaRPr/>
          </a:p>
        </p:txBody>
      </p:sp>
      <p:sp>
        <p:nvSpPr>
          <p:cNvPr id="35" name="Step2Num"/>
          <p:cNvSpPr/>
          <p:nvPr/>
        </p:nvSpPr>
        <p:spPr>
          <a:xfrm>
            <a:off x="6150000" y="1670000"/>
            <a:ext cx="270000" cy="270000"/>
          </a:xfrm>
          <a:prstGeom prst="ellipse">
            <a:avLst/>
          </a:prstGeom>
          <a:solidFill>
            <a:srgbClr val="065F46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10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6" name="Step2Text"/>
          <p:cNvSpPr/>
          <p:nvPr/>
        </p:nvSpPr>
        <p:spPr>
          <a:xfrm>
            <a:off x="6470000" y="1670000"/>
            <a:ext cx="5600000" cy="270000"/>
          </a:xfrm>
          <a:prstGeom prst="rect">
            <a:avLst/>
          </a:prstGeom>
          <a:noFill/>
          <a:ln/>
        </p:spPr>
        <p:txBody>
          <a:bodyPr wrap="square" lIns="45720" rIns="45720" rtlCol="0" anchor="ctr"/>
          <a:lstStyle/>
          <a:p>
            <a:pPr marL="0" indent="0">
              <a:buNone/>
            </a:pPr>
            <a:r>
              <a:rPr lang="tr-TR" sz="900" b="1" dirty="0">
                <a:solidFill>
                  <a:srgbClr val="065F46"/>
                </a:solidFill>
                <a:latin typeface="Calibri"/>
              </a:rPr>
              <a:t>Sıralı gen listesi: </a:t>
            </a:r>
            <a:r>
              <a:rPr lang="tr-TR" sz="900" dirty="0">
                <a:solidFill>
                  <a:srgbClr val="374151"/>
                </a:solidFill>
                <a:latin typeface="Calibri"/>
              </a:rPr>
              <a:t>sign(log2FC)×-log10(pval) → .rnk dosyası</a:t>
            </a:r>
          </a:p>
        </p:txBody>
      </p:sp>
      <p:sp>
        <p:nvSpPr>
          <p:cNvPr id="37" name="Arrow2"/>
          <p:cNvSpPr/>
          <p:nvPr/>
        </p:nvSpPr>
        <p:spPr>
          <a:xfrm>
            <a:off x="6960000" y="1945000"/>
            <a:ext cx="150000" cy="150000"/>
          </a:xfrm>
          <a:prstGeom prst="downArrow">
            <a:avLst/>
          </a:prstGeom>
          <a:solidFill>
            <a:srgbClr val="065F46"/>
          </a:solidFill>
        </p:spPr>
        <p:txBody>
          <a:bodyPr/>
          <a:lstStyle/>
          <a:p>
            <a:endParaRPr/>
          </a:p>
        </p:txBody>
      </p:sp>
      <p:sp>
        <p:nvSpPr>
          <p:cNvPr id="38" name="Step3Bg"/>
          <p:cNvSpPr/>
          <p:nvPr/>
        </p:nvSpPr>
        <p:spPr>
          <a:xfrm>
            <a:off x="6150000" y="2120000"/>
            <a:ext cx="5920000" cy="270000"/>
          </a:xfrm>
          <a:prstGeom prst="rect">
            <a:avLst/>
          </a:prstGeom>
          <a:solidFill>
            <a:srgbClr val="D1FAE5"/>
          </a:solidFill>
        </p:spPr>
        <p:txBody>
          <a:bodyPr/>
          <a:lstStyle/>
          <a:p>
            <a:endParaRPr/>
          </a:p>
        </p:txBody>
      </p:sp>
      <p:sp>
        <p:nvSpPr>
          <p:cNvPr id="39" name="Step3Num"/>
          <p:cNvSpPr/>
          <p:nvPr/>
        </p:nvSpPr>
        <p:spPr>
          <a:xfrm>
            <a:off x="6150000" y="2120000"/>
            <a:ext cx="270000" cy="270000"/>
          </a:xfrm>
          <a:prstGeom prst="ellipse">
            <a:avLst/>
          </a:prstGeom>
          <a:solidFill>
            <a:srgbClr val="065F46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10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Step3Text"/>
          <p:cNvSpPr/>
          <p:nvPr/>
        </p:nvSpPr>
        <p:spPr>
          <a:xfrm>
            <a:off x="6470000" y="2120000"/>
            <a:ext cx="5600000" cy="270000"/>
          </a:xfrm>
          <a:prstGeom prst="rect">
            <a:avLst/>
          </a:prstGeom>
          <a:noFill/>
          <a:ln/>
        </p:spPr>
        <p:txBody>
          <a:bodyPr wrap="square" lIns="45720" rIns="45720" rtlCol="0" anchor="ctr"/>
          <a:lstStyle/>
          <a:p>
            <a:pPr marL="0" indent="0">
              <a:buNone/>
            </a:pPr>
            <a:r>
              <a:rPr lang="tr-TR" sz="900" b="1" dirty="0">
                <a:solidFill>
                  <a:srgbClr val="065F46"/>
                </a:solidFill>
                <a:latin typeface="Calibri"/>
              </a:rPr>
              <a:t>Gen seti veritabanı: </a:t>
            </a:r>
            <a:r>
              <a:rPr lang="tr-TR" sz="900" dirty="0">
                <a:solidFill>
                  <a:srgbClr val="374151"/>
                </a:solidFill>
                <a:latin typeface="Calibri"/>
              </a:rPr>
              <a:t>MSigDB Hallmark — 50 yolak (msigdbr ile R'a)</a:t>
            </a:r>
          </a:p>
        </p:txBody>
      </p:sp>
      <p:sp>
        <p:nvSpPr>
          <p:cNvPr id="41" name="Arrow3"/>
          <p:cNvSpPr/>
          <p:nvPr/>
        </p:nvSpPr>
        <p:spPr>
          <a:xfrm>
            <a:off x="6960000" y="2395000"/>
            <a:ext cx="150000" cy="150000"/>
          </a:xfrm>
          <a:prstGeom prst="downArrow">
            <a:avLst/>
          </a:prstGeom>
          <a:solidFill>
            <a:srgbClr val="065F46"/>
          </a:solidFill>
        </p:spPr>
        <p:txBody>
          <a:bodyPr/>
          <a:lstStyle/>
          <a:p>
            <a:endParaRPr/>
          </a:p>
        </p:txBody>
      </p:sp>
      <p:sp>
        <p:nvSpPr>
          <p:cNvPr id="42" name="Step4Bg"/>
          <p:cNvSpPr/>
          <p:nvPr/>
        </p:nvSpPr>
        <p:spPr>
          <a:xfrm>
            <a:off x="6150000" y="2570000"/>
            <a:ext cx="5920000" cy="270000"/>
          </a:xfrm>
          <a:prstGeom prst="rect">
            <a:avLst/>
          </a:prstGeom>
          <a:solidFill>
            <a:srgbClr val="D1FAE5"/>
          </a:solidFill>
        </p:spPr>
        <p:txBody>
          <a:bodyPr/>
          <a:lstStyle/>
          <a:p>
            <a:endParaRPr/>
          </a:p>
        </p:txBody>
      </p:sp>
      <p:sp>
        <p:nvSpPr>
          <p:cNvPr id="43" name="Step4Num"/>
          <p:cNvSpPr/>
          <p:nvPr/>
        </p:nvSpPr>
        <p:spPr>
          <a:xfrm>
            <a:off x="6150000" y="2570000"/>
            <a:ext cx="270000" cy="270000"/>
          </a:xfrm>
          <a:prstGeom prst="ellipse">
            <a:avLst/>
          </a:prstGeom>
          <a:solidFill>
            <a:srgbClr val="065F46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10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Step4Text"/>
          <p:cNvSpPr/>
          <p:nvPr/>
        </p:nvSpPr>
        <p:spPr>
          <a:xfrm>
            <a:off x="6470000" y="2570000"/>
            <a:ext cx="5600000" cy="270000"/>
          </a:xfrm>
          <a:prstGeom prst="rect">
            <a:avLst/>
          </a:prstGeom>
          <a:noFill/>
          <a:ln/>
        </p:spPr>
        <p:txBody>
          <a:bodyPr wrap="square" lIns="45720" rIns="45720" rtlCol="0" anchor="ctr"/>
          <a:lstStyle/>
          <a:p>
            <a:pPr marL="0" indent="0">
              <a:buNone/>
            </a:pPr>
            <a:r>
              <a:rPr lang="tr-TR" sz="900" b="1" dirty="0">
                <a:solidFill>
                  <a:srgbClr val="065F46"/>
                </a:solidFill>
                <a:latin typeface="Calibri"/>
              </a:rPr>
              <a:t>Enrichment Score (ES): </a:t>
            </a:r>
            <a:r>
              <a:rPr lang="tr-TR" sz="900" dirty="0">
                <a:solidFill>
                  <a:srgbClr val="374151"/>
                </a:solidFill>
                <a:latin typeface="Calibri"/>
              </a:rPr>
              <a:t>yürüyen toplam, set üyesi: +, diğer: −</a:t>
            </a:r>
          </a:p>
        </p:txBody>
      </p:sp>
      <p:sp>
        <p:nvSpPr>
          <p:cNvPr id="45" name="Arrow4"/>
          <p:cNvSpPr/>
          <p:nvPr/>
        </p:nvSpPr>
        <p:spPr>
          <a:xfrm>
            <a:off x="6960000" y="2845000"/>
            <a:ext cx="150000" cy="150000"/>
          </a:xfrm>
          <a:prstGeom prst="downArrow">
            <a:avLst/>
          </a:prstGeom>
          <a:solidFill>
            <a:srgbClr val="065F46"/>
          </a:solidFill>
        </p:spPr>
        <p:txBody>
          <a:bodyPr/>
          <a:lstStyle/>
          <a:p>
            <a:endParaRPr/>
          </a:p>
        </p:txBody>
      </p:sp>
      <p:sp>
        <p:nvSpPr>
          <p:cNvPr id="46" name="Step5Bg"/>
          <p:cNvSpPr/>
          <p:nvPr/>
        </p:nvSpPr>
        <p:spPr>
          <a:xfrm>
            <a:off x="6150000" y="3020000"/>
            <a:ext cx="5920000" cy="230000"/>
          </a:xfrm>
          <a:prstGeom prst="rect">
            <a:avLst/>
          </a:prstGeom>
          <a:solidFill>
            <a:srgbClr val="065F46"/>
          </a:solidFill>
        </p:spPr>
        <p:txBody>
          <a:bodyPr/>
          <a:lstStyle/>
          <a:p>
            <a:endParaRPr/>
          </a:p>
        </p:txBody>
      </p:sp>
      <p:sp>
        <p:nvSpPr>
          <p:cNvPr id="47" name="Step5Text"/>
          <p:cNvSpPr/>
          <p:nvPr/>
        </p:nvSpPr>
        <p:spPr>
          <a:xfrm>
            <a:off x="6150000" y="3020000"/>
            <a:ext cx="5920000" cy="230000"/>
          </a:xfrm>
          <a:prstGeom prst="rect">
            <a:avLst/>
          </a:prstGeom>
          <a:noFill/>
          <a:ln/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tr-TR" sz="900" b="1" dirty="0">
                <a:solidFill>
                  <a:srgbClr val="FFFFFF"/>
                </a:solidFill>
                <a:latin typeface="Calibri"/>
              </a:rPr>
              <a:t>✔ Çıktı: </a:t>
            </a:r>
            <a:r>
              <a:rPr lang="tr-TR" sz="900" dirty="0">
                <a:solidFill>
                  <a:srgbClr val="D1FAE5"/>
                </a:solidFill>
                <a:latin typeface="Calibri"/>
              </a:rPr>
              <a:t>ES, NES, NOM p-val, FDR q-val, Leading Edge genleri</a:t>
            </a:r>
          </a:p>
        </p:txBody>
      </p:sp>
      <p:sp>
        <p:nvSpPr>
          <p:cNvPr id="50" name="HallHdrBg"/>
          <p:cNvSpPr/>
          <p:nvPr/>
        </p:nvSpPr>
        <p:spPr>
          <a:xfrm>
            <a:off x="201168" y="3260000"/>
            <a:ext cx="11868912" cy="310000"/>
          </a:xfrm>
          <a:prstGeom prst="rect">
            <a:avLst/>
          </a:prstGeom>
          <a:solidFill>
            <a:srgbClr val="7C3AED"/>
          </a:solidFill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tr-TR" sz="1300" b="1" dirty="0">
                <a:solidFill>
                  <a:srgbClr val="FFFFFF"/>
                </a:solidFill>
                <a:latin typeface="Calibri"/>
              </a:rPr>
              <a:t>🗂  MSigDB Hallmark Koleksiyonu Nedir?</a:t>
            </a:r>
          </a:p>
        </p:txBody>
      </p:sp>
      <p:sp>
        <p:nvSpPr>
          <p:cNvPr id="51" name="HBx1Bg"/>
          <p:cNvSpPr/>
          <p:nvPr/>
        </p:nvSpPr>
        <p:spPr>
          <a:xfrm>
            <a:off x="201168" y="3600000"/>
            <a:ext cx="3840000" cy="820000"/>
          </a:xfrm>
          <a:prstGeom prst="rect">
            <a:avLst/>
          </a:prstGeom>
          <a:solidFill>
            <a:srgbClr val="F3E8FF"/>
          </a:solidFill>
        </p:spPr>
        <p:txBody>
          <a:bodyPr/>
          <a:lstStyle/>
          <a:p>
            <a:endParaRPr/>
          </a:p>
        </p:txBody>
      </p:sp>
      <p:sp>
        <p:nvSpPr>
          <p:cNvPr id="52" name="HBx1"/>
          <p:cNvSpPr/>
          <p:nvPr/>
        </p:nvSpPr>
        <p:spPr>
          <a:xfrm>
            <a:off x="201168" y="3600000"/>
            <a:ext cx="3840000" cy="820000"/>
          </a:xfrm>
          <a:prstGeom prst="rect">
            <a:avLst/>
          </a:prstGeom>
          <a:noFill/>
          <a:ln/>
        </p:spPr>
        <p:txBody>
          <a:bodyPr wrap="square" lIns="182880" tIns="120000" rIns="182880" rtlCol="0" anchor="t"/>
          <a:lstStyle/>
          <a:p>
            <a:pPr marL="0" indent="0">
              <a:buNone/>
            </a:pPr>
            <a:r>
              <a:rPr lang="tr-TR" sz="1100" b="1" dirty="0">
                <a:solidFill>
                  <a:srgbClr val="6D28D9"/>
                </a:solidFill>
                <a:latin typeface="Calibri"/>
              </a:rPr>
              <a:t>50 Gen Seti</a:t>
            </a:r>
          </a:p>
          <a:p>
            <a:pPr marL="0" indent="0">
              <a:buNone/>
            </a:pPr>
            <a:r>
              <a:rPr lang="tr-TR" sz="950" dirty="0">
                <a:solidFill>
                  <a:srgbClr val="374151"/>
                </a:solidFill>
                <a:latin typeface="Calibri"/>
              </a:rPr>
              <a:t>Biyolojik süreçleri temsil eden iyi curated gen koleksiyonları. Binlerce özgün gen setinden damıtılmış, örtüşme minimize edilmiş.</a:t>
            </a:r>
          </a:p>
        </p:txBody>
      </p:sp>
      <p:sp>
        <p:nvSpPr>
          <p:cNvPr id="53" name="HBx2Bg"/>
          <p:cNvSpPr/>
          <p:nvPr/>
        </p:nvSpPr>
        <p:spPr>
          <a:xfrm>
            <a:off x="4215168" y="3600000"/>
            <a:ext cx="3840000" cy="820000"/>
          </a:xfrm>
          <a:prstGeom prst="rect">
            <a:avLst/>
          </a:prstGeom>
          <a:solidFill>
            <a:srgbClr val="F3E8FF"/>
          </a:solidFill>
        </p:spPr>
        <p:txBody>
          <a:bodyPr/>
          <a:lstStyle/>
          <a:p>
            <a:endParaRPr/>
          </a:p>
        </p:txBody>
      </p:sp>
      <p:sp>
        <p:nvSpPr>
          <p:cNvPr id="54" name="HBx2"/>
          <p:cNvSpPr/>
          <p:nvPr/>
        </p:nvSpPr>
        <p:spPr>
          <a:xfrm>
            <a:off x="4215168" y="3600000"/>
            <a:ext cx="3840000" cy="820000"/>
          </a:xfrm>
          <a:prstGeom prst="rect">
            <a:avLst/>
          </a:prstGeom>
          <a:noFill/>
          <a:ln/>
        </p:spPr>
        <p:txBody>
          <a:bodyPr wrap="square" lIns="182880" tIns="120000" rIns="182880" rtlCol="0" anchor="t"/>
          <a:lstStyle/>
          <a:p>
            <a:pPr marL="0" indent="0">
              <a:buNone/>
            </a:pPr>
            <a:r>
              <a:rPr lang="tr-TR" sz="1100" b="1" dirty="0">
                <a:solidFill>
                  <a:srgbClr val="6D28D9"/>
                </a:solidFill>
                <a:latin typeface="Calibri"/>
              </a:rPr>
              <a:t>Bu Çalışmada Öne Çıkanlar</a:t>
            </a:r>
          </a:p>
          <a:p>
            <a:pPr marL="0" indent="0">
              <a:buNone/>
            </a:pPr>
            <a:r>
              <a:rPr lang="tr-TR" sz="950" dirty="0">
                <a:solidFill>
                  <a:srgbClr val="374151"/>
                </a:solidFill>
                <a:latin typeface="Calibri"/>
              </a:rPr>
              <a:t>HALLMARK_INTERFERON_GAMMA_RESPONSE · HALLMARK_HYPOXIA · HALLMARK_MTORC1_SIGNALING · HALLMARK_UNFOLDED_PROTEIN_RESPONSE</a:t>
            </a:r>
          </a:p>
        </p:txBody>
      </p:sp>
      <p:sp>
        <p:nvSpPr>
          <p:cNvPr id="55" name="HBx3Bg"/>
          <p:cNvSpPr/>
          <p:nvPr/>
        </p:nvSpPr>
        <p:spPr>
          <a:xfrm>
            <a:off x="8229168" y="3600000"/>
            <a:ext cx="3840000" cy="820000"/>
          </a:xfrm>
          <a:prstGeom prst="rect">
            <a:avLst/>
          </a:prstGeom>
          <a:solidFill>
            <a:srgbClr val="F3E8FF"/>
          </a:solidFill>
        </p:spPr>
        <p:txBody>
          <a:bodyPr/>
          <a:lstStyle/>
          <a:p>
            <a:endParaRPr/>
          </a:p>
        </p:txBody>
      </p:sp>
      <p:sp>
        <p:nvSpPr>
          <p:cNvPr id="56" name="HBx3"/>
          <p:cNvSpPr/>
          <p:nvPr/>
        </p:nvSpPr>
        <p:spPr>
          <a:xfrm>
            <a:off x="8229168" y="3600000"/>
            <a:ext cx="3840000" cy="820000"/>
          </a:xfrm>
          <a:prstGeom prst="rect">
            <a:avLst/>
          </a:prstGeom>
          <a:noFill/>
          <a:ln/>
        </p:spPr>
        <p:txBody>
          <a:bodyPr wrap="square" lIns="182880" tIns="120000" rIns="182880" rtlCol="0" anchor="t"/>
          <a:lstStyle/>
          <a:p>
            <a:pPr marL="0" indent="0">
              <a:buNone/>
            </a:pPr>
            <a:r>
              <a:rPr lang="tr-TR" sz="1100" b="1" dirty="0">
                <a:solidFill>
                  <a:srgbClr val="6D28D9"/>
                </a:solidFill>
                <a:latin typeface="Calibri"/>
              </a:rPr>
              <a:t>Alternatif Yaklaşımla Fark</a:t>
            </a:r>
          </a:p>
          <a:p>
            <a:pPr marL="0" indent="0">
              <a:buNone/>
            </a:pPr>
            <a:r>
              <a:rPr lang="tr-TR" sz="950" dirty="0">
                <a:solidFill>
                  <a:srgbClr val="374151"/>
                </a:solidFill>
                <a:latin typeface="Calibri"/>
              </a:rPr>
              <a:t>ORA (Over-Representation Analysis) sadece DEG listesine bakar. GSEA ise eşik kullanmaz — tüm genleri birlikte değerlendirir, daha hassas ve güçlüdür.</a:t>
            </a:r>
          </a:p>
        </p:txBody>
      </p:sp>
      <p:sp>
        <p:nvSpPr>
          <p:cNvPr id="99" name="BottomBar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</p:spPr>
        <p:txBody>
          <a:bodyPr wrap="square" lIns="182880" rIns="182880" rtlCol="0" anchor="ctr"/>
          <a:lstStyle/>
          <a:p>
            <a:pPr marL="0" indent="0">
              <a:buNone/>
            </a:pPr>
            <a:r>
              <a:rPr lang="tr-TR" sz="800" dirty="0">
                <a:solidFill>
                  <a:srgbClr val="BFDBFE"/>
                </a:solidFill>
                <a:latin typeface="Calibri"/>
              </a:rPr>
              <a:t>Nazar ERBAŞ  ·  220125105033  ·  Romatoid Artritte İskelet Kasının Moleküler Analizi  ·  Oliver et al. Communications Biology 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SEA Tablo Terimleri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54864" cy="6601968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 lang="tr-TR"/>
          </a:p>
        </p:txBody>
      </p:sp>
      <p:sp>
        <p:nvSpPr>
          <p:cNvPr id="3" name="Title"/>
          <p:cNvSpPr/>
          <p:nvPr/>
        </p:nvSpPr>
        <p:spPr>
          <a:xfrm>
            <a:off x="201168" y="109728"/>
            <a:ext cx="1186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2600" b="1" dirty="0">
                <a:solidFill>
                  <a:srgbClr val="0F2D52"/>
                </a:solidFill>
                <a:latin typeface="Calibri"/>
              </a:rPr>
              <a:t>GSEA Çıktı Tablosu — Sütunlar Ne Anlama Gelir?</a:t>
            </a:r>
          </a:p>
        </p:txBody>
      </p:sp>
      <p:sp>
        <p:nvSpPr>
          <p:cNvPr id="4" name="Sub"/>
          <p:cNvSpPr/>
          <p:nvPr/>
        </p:nvSpPr>
        <p:spPr>
          <a:xfrm>
            <a:off x="201168" y="566928"/>
            <a:ext cx="1186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200" i="1" dirty="0">
                <a:solidFill>
                  <a:srgbClr val="64748B"/>
                </a:solidFill>
                <a:latin typeface="Calibri"/>
              </a:rPr>
              <a:t>Hem makale tablosunda (Table 1-2) hem kendi GSEA çıktımızda (görsel ekran görüntüsü) ortak kullanılan terimler</a:t>
            </a:r>
          </a:p>
        </p:txBody>
      </p:sp>
      <p:sp>
        <p:nvSpPr>
          <p:cNvPr id="5" name="Div"/>
          <p:cNvSpPr/>
          <p:nvPr/>
        </p:nvSpPr>
        <p:spPr>
          <a:xfrm>
            <a:off x="201168" y="822960"/>
            <a:ext cx="11868912" cy="22860"/>
          </a:xfrm>
          <a:prstGeom prst="rect">
            <a:avLst/>
          </a:prstGeom>
          <a:solidFill>
            <a:srgbClr val="BFDBFE"/>
          </a:solidFill>
        </p:spPr>
        <p:txBody>
          <a:bodyPr/>
          <a:lstStyle/>
          <a:p>
            <a:endParaRPr/>
          </a:p>
        </p:txBody>
      </p:sp>
      <p:sp>
        <p:nvSpPr>
          <p:cNvPr id="10" name="T1Bg"/>
          <p:cNvSpPr/>
          <p:nvPr/>
        </p:nvSpPr>
        <p:spPr>
          <a:xfrm>
            <a:off x="201168" y="900000"/>
            <a:ext cx="11868912" cy="430000"/>
          </a:xfrm>
          <a:prstGeom prst="rect">
            <a:avLst/>
          </a:prstGeom>
          <a:solidFill>
            <a:srgbClr val="EFF6FF"/>
          </a:solidFill>
        </p:spPr>
        <p:txBody>
          <a:bodyPr/>
          <a:lstStyle/>
          <a:p>
            <a:endParaRPr/>
          </a:p>
        </p:txBody>
      </p:sp>
      <p:sp>
        <p:nvSpPr>
          <p:cNvPr id="11" name="T1Tag"/>
          <p:cNvSpPr/>
          <p:nvPr/>
        </p:nvSpPr>
        <p:spPr>
          <a:xfrm>
            <a:off x="240000" y="930000"/>
            <a:ext cx="1150000" cy="3700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1100" b="1" dirty="0">
                <a:solidFill>
                  <a:srgbClr val="FFFFFF"/>
                </a:solidFill>
                <a:latin typeface="Calibri"/>
              </a:rPr>
              <a:t>SIZE</a:t>
            </a:r>
          </a:p>
        </p:txBody>
      </p:sp>
      <p:sp>
        <p:nvSpPr>
          <p:cNvPr id="12" name="T1Text"/>
          <p:cNvSpPr/>
          <p:nvPr/>
        </p:nvSpPr>
        <p:spPr>
          <a:xfrm>
            <a:off x="1480000" y="900000"/>
            <a:ext cx="10550000" cy="430000"/>
          </a:xfrm>
          <a:prstGeom prst="rect">
            <a:avLst/>
          </a:prstGeom>
          <a:noFill/>
          <a:ln/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tr-TR" sz="1000" b="1" dirty="0">
                <a:solidFill>
                  <a:srgbClr val="1E3A5F"/>
                </a:solidFill>
                <a:latin typeface="Calibri"/>
              </a:rPr>
              <a:t>Gen Seti Büyüklüğü — </a:t>
            </a:r>
            <a:r>
              <a:rPr lang="tr-TR" sz="1000" dirty="0">
                <a:solidFill>
                  <a:srgbClr val="374151"/>
                </a:solidFill>
                <a:latin typeface="Calibri"/>
              </a:rPr>
              <a:t>O gen setindeki, veri setimizde de bulunan gen sayısı. Örn. Hypoxia seti 200 gen içerir. Büyük setler istatistiksel olarak daha kararlı sonuç verir.</a:t>
            </a:r>
          </a:p>
        </p:txBody>
      </p:sp>
      <p:sp>
        <p:nvSpPr>
          <p:cNvPr id="20" name="T2Tag"/>
          <p:cNvSpPr/>
          <p:nvPr/>
        </p:nvSpPr>
        <p:spPr>
          <a:xfrm>
            <a:off x="240000" y="1395000"/>
            <a:ext cx="1150000" cy="3700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1100" b="1" dirty="0">
                <a:solidFill>
                  <a:srgbClr val="FFFFFF"/>
                </a:solidFill>
                <a:latin typeface="Calibri"/>
              </a:rPr>
              <a:t>ES</a:t>
            </a:r>
          </a:p>
        </p:txBody>
      </p:sp>
      <p:sp>
        <p:nvSpPr>
          <p:cNvPr id="21" name="T2Text"/>
          <p:cNvSpPr/>
          <p:nvPr/>
        </p:nvSpPr>
        <p:spPr>
          <a:xfrm>
            <a:off x="1480000" y="1365000"/>
            <a:ext cx="10550000" cy="430000"/>
          </a:xfrm>
          <a:prstGeom prst="rect">
            <a:avLst/>
          </a:prstGeom>
          <a:noFill/>
          <a:ln/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tr-TR" sz="1000" b="1" dirty="0">
                <a:solidFill>
                  <a:srgbClr val="1E3A5F"/>
                </a:solidFill>
                <a:latin typeface="Calibri"/>
              </a:rPr>
              <a:t>Enrichment Score (Zenginleşme Skoru) — </a:t>
            </a:r>
            <a:r>
              <a:rPr lang="tr-TR" sz="1000" dirty="0">
                <a:solidFill>
                  <a:srgbClr val="374151"/>
                </a:solidFill>
                <a:latin typeface="Calibri"/>
              </a:rPr>
              <a:t>Sıralı gen listesinde yürüyen toplam istatistiğinin maksimum sapması. Pozitif ES = set genleri listenin üst (upregüle) ucunda toplanmış; negatif ES = alt (downregüle) ucunda toplanmış.</a:t>
            </a:r>
          </a:p>
        </p:txBody>
      </p:sp>
      <p:sp>
        <p:nvSpPr>
          <p:cNvPr id="30" name="T3Bg"/>
          <p:cNvSpPr/>
          <p:nvPr/>
        </p:nvSpPr>
        <p:spPr>
          <a:xfrm>
            <a:off x="201168" y="1830000"/>
            <a:ext cx="11868912" cy="500000"/>
          </a:xfrm>
          <a:prstGeom prst="rect">
            <a:avLst/>
          </a:prstGeom>
          <a:solidFill>
            <a:srgbClr val="EFF6FF"/>
          </a:solidFill>
        </p:spPr>
        <p:txBody>
          <a:bodyPr/>
          <a:lstStyle/>
          <a:p>
            <a:endParaRPr/>
          </a:p>
        </p:txBody>
      </p:sp>
      <p:sp>
        <p:nvSpPr>
          <p:cNvPr id="31" name="T3Tag"/>
          <p:cNvSpPr/>
          <p:nvPr/>
        </p:nvSpPr>
        <p:spPr>
          <a:xfrm>
            <a:off x="240000" y="1865000"/>
            <a:ext cx="1150000" cy="4300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1100" b="1" dirty="0">
                <a:solidFill>
                  <a:srgbClr val="FFFFFF"/>
                </a:solidFill>
                <a:latin typeface="Calibri"/>
              </a:rPr>
              <a:t>NES</a:t>
            </a:r>
          </a:p>
        </p:txBody>
      </p:sp>
      <p:sp>
        <p:nvSpPr>
          <p:cNvPr id="32" name="T3Text"/>
          <p:cNvSpPr/>
          <p:nvPr/>
        </p:nvSpPr>
        <p:spPr>
          <a:xfrm>
            <a:off x="1480000" y="1830000"/>
            <a:ext cx="10550000" cy="500000"/>
          </a:xfrm>
          <a:prstGeom prst="rect">
            <a:avLst/>
          </a:prstGeom>
          <a:noFill/>
          <a:ln/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tr-TR" sz="1000" b="1" dirty="0">
                <a:solidFill>
                  <a:srgbClr val="065F46"/>
                </a:solidFill>
                <a:latin typeface="Calibri"/>
              </a:rPr>
              <a:t>Normalized Enrichment Score (★ En Önemli Metrik) — </a:t>
            </a:r>
            <a:r>
              <a:rPr lang="tr-TR" sz="1000" dirty="0">
                <a:solidFill>
                  <a:srgbClr val="374151"/>
                </a:solidFill>
                <a:latin typeface="Calibri"/>
              </a:rPr>
              <a:t>ES'in gen seti büyüklüğüne göre normalize edilmiş hali. Farklı boyuttaki gen setlerini karşılaştırmaya izin verir. |NES| büyüklüğü = etkinin gücü (örn. NES=2.60 → çok güçlü zenginleşme; NES=1.36 → zayıf-orta zenginleşme).</a:t>
            </a:r>
          </a:p>
        </p:txBody>
      </p:sp>
      <p:sp>
        <p:nvSpPr>
          <p:cNvPr id="40" name="T4Tag"/>
          <p:cNvSpPr/>
          <p:nvPr/>
        </p:nvSpPr>
        <p:spPr>
          <a:xfrm>
            <a:off x="240000" y="2400000"/>
            <a:ext cx="1150000" cy="430000"/>
          </a:xfrm>
          <a:prstGeom prst="roundRect">
            <a:avLst>
              <a:gd name="adj" fmla="val 16000"/>
            </a:avLst>
          </a:prstGeom>
          <a:solidFill>
            <a:srgbClr val="B45309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950" b="1" dirty="0">
                <a:solidFill>
                  <a:srgbClr val="FFFFFF"/>
                </a:solidFill>
                <a:latin typeface="Calibri"/>
              </a:rPr>
              <a:t>NOM p-val</a:t>
            </a:r>
          </a:p>
        </p:txBody>
      </p:sp>
      <p:sp>
        <p:nvSpPr>
          <p:cNvPr id="41" name="T4Text"/>
          <p:cNvSpPr/>
          <p:nvPr/>
        </p:nvSpPr>
        <p:spPr>
          <a:xfrm>
            <a:off x="1480000" y="2370000"/>
            <a:ext cx="10550000" cy="500000"/>
          </a:xfrm>
          <a:prstGeom prst="rect">
            <a:avLst/>
          </a:prstGeom>
          <a:noFill/>
          <a:ln/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tr-TR" sz="1000" b="1" dirty="0">
                <a:solidFill>
                  <a:srgbClr val="92400E"/>
                </a:solidFill>
                <a:latin typeface="Calibri"/>
              </a:rPr>
              <a:t>Nominal p-değeri — </a:t>
            </a:r>
            <a:r>
              <a:rPr lang="tr-TR" sz="1000" dirty="0">
                <a:solidFill>
                  <a:srgbClr val="374151"/>
                </a:solidFill>
                <a:latin typeface="Calibri"/>
              </a:rPr>
              <a:t>Bu ES'in, genler rastgele permüte edildiğinde şans eseri elde edilme olasılığı. Tek bir gen seti için anlamlılık testi ama çoklu test düzeltmesi içermez — bu yüzden FDR ile birlikte değerlendirilmelidir.</a:t>
            </a:r>
          </a:p>
        </p:txBody>
      </p:sp>
      <p:sp>
        <p:nvSpPr>
          <p:cNvPr id="50" name="T5Bg"/>
          <p:cNvSpPr/>
          <p:nvPr/>
        </p:nvSpPr>
        <p:spPr>
          <a:xfrm>
            <a:off x="201168" y="2935000"/>
            <a:ext cx="11868912" cy="500000"/>
          </a:xfrm>
          <a:prstGeom prst="rect">
            <a:avLst/>
          </a:prstGeom>
          <a:solidFill>
            <a:srgbClr val="FEF3C7"/>
          </a:solidFill>
        </p:spPr>
        <p:txBody>
          <a:bodyPr/>
          <a:lstStyle/>
          <a:p>
            <a:endParaRPr/>
          </a:p>
        </p:txBody>
      </p:sp>
      <p:sp>
        <p:nvSpPr>
          <p:cNvPr id="51" name="T5Tag"/>
          <p:cNvSpPr/>
          <p:nvPr/>
        </p:nvSpPr>
        <p:spPr>
          <a:xfrm>
            <a:off x="240000" y="2970000"/>
            <a:ext cx="1150000" cy="430000"/>
          </a:xfrm>
          <a:prstGeom prst="roundRect">
            <a:avLst>
              <a:gd name="adj" fmla="val 16000"/>
            </a:avLst>
          </a:prstGeom>
          <a:solidFill>
            <a:srgbClr val="B45309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950" b="1" dirty="0">
                <a:solidFill>
                  <a:srgbClr val="FFFFFF"/>
                </a:solidFill>
                <a:latin typeface="Calibri"/>
              </a:rPr>
              <a:t>FDR q-val</a:t>
            </a:r>
          </a:p>
        </p:txBody>
      </p:sp>
      <p:sp>
        <p:nvSpPr>
          <p:cNvPr id="52" name="T5Text"/>
          <p:cNvSpPr/>
          <p:nvPr/>
        </p:nvSpPr>
        <p:spPr>
          <a:xfrm>
            <a:off x="1480000" y="2935000"/>
            <a:ext cx="10550000" cy="500000"/>
          </a:xfrm>
          <a:prstGeom prst="rect">
            <a:avLst/>
          </a:prstGeom>
          <a:noFill/>
          <a:ln/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tr-TR" sz="1000" b="1" dirty="0">
                <a:solidFill>
                  <a:srgbClr val="92400E"/>
                </a:solidFill>
                <a:latin typeface="Calibri"/>
              </a:rPr>
              <a:t>False Discovery Rate q-değeri (★ Asıl Anlamlılık Kriteri) — </a:t>
            </a:r>
            <a:r>
              <a:rPr lang="tr-TR" sz="1000" dirty="0">
                <a:solidFill>
                  <a:srgbClr val="374151"/>
                </a:solidFill>
                <a:latin typeface="Calibri"/>
              </a:rPr>
              <a:t>50 gen seti aynı anda test edildiğinden çoklu karşılaştırma düzeltmesi yapılmış olasılık. FDR &lt; 0.05 = "anlamlı bulunanların %5'inden azı yanlış pozitif olabilir." Makale ve bizim analiz bu eşiği kullandı.</a:t>
            </a:r>
          </a:p>
        </p:txBody>
      </p:sp>
      <p:sp>
        <p:nvSpPr>
          <p:cNvPr id="60" name="T6Tag"/>
          <p:cNvSpPr/>
          <p:nvPr/>
        </p:nvSpPr>
        <p:spPr>
          <a:xfrm>
            <a:off x="240000" y="3505000"/>
            <a:ext cx="1900000" cy="430000"/>
          </a:xfrm>
          <a:prstGeom prst="roundRect">
            <a:avLst>
              <a:gd name="adj" fmla="val 16000"/>
            </a:avLst>
          </a:prstGeom>
          <a:solidFill>
            <a:srgbClr val="6D28D9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900" b="1" dirty="0">
                <a:solidFill>
                  <a:srgbClr val="FFFFFF"/>
                </a:solidFill>
                <a:latin typeface="Calibri"/>
              </a:rPr>
              <a:t>RANK AT MAX</a:t>
            </a:r>
          </a:p>
        </p:txBody>
      </p:sp>
      <p:sp>
        <p:nvSpPr>
          <p:cNvPr id="61" name="T6Text"/>
          <p:cNvSpPr/>
          <p:nvPr/>
        </p:nvSpPr>
        <p:spPr>
          <a:xfrm>
            <a:off x="2230000" y="3470000"/>
            <a:ext cx="9800000" cy="500000"/>
          </a:xfrm>
          <a:prstGeom prst="rect">
            <a:avLst/>
          </a:prstGeom>
          <a:noFill/>
          <a:ln/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tr-TR" sz="1000" dirty="0">
                <a:solidFill>
                  <a:srgbClr val="374151"/>
                </a:solidFill>
                <a:latin typeface="Calibri"/>
              </a:rPr>
              <a:t>ES'in maksimuma ulaştığı sıralı listedeki pozisyon (rank). Bu noktadan önceki genler "leading edge" gen setini oluşturur — biyolojik olarak en belirleyici genler.</a:t>
            </a:r>
          </a:p>
        </p:txBody>
      </p:sp>
      <p:sp>
        <p:nvSpPr>
          <p:cNvPr id="70" name="T7Bg"/>
          <p:cNvSpPr/>
          <p:nvPr/>
        </p:nvSpPr>
        <p:spPr>
          <a:xfrm>
            <a:off x="201168" y="4040000"/>
            <a:ext cx="11868912" cy="620000"/>
          </a:xfrm>
          <a:prstGeom prst="rect">
            <a:avLst/>
          </a:prstGeom>
          <a:solidFill>
            <a:srgbClr val="EFF6FF"/>
          </a:solidFill>
        </p:spPr>
        <p:txBody>
          <a:bodyPr/>
          <a:lstStyle/>
          <a:p>
            <a:endParaRPr/>
          </a:p>
        </p:txBody>
      </p:sp>
      <p:sp>
        <p:nvSpPr>
          <p:cNvPr id="71" name="T7Tag"/>
          <p:cNvSpPr/>
          <p:nvPr/>
        </p:nvSpPr>
        <p:spPr>
          <a:xfrm>
            <a:off x="240000" y="4090000"/>
            <a:ext cx="1900000" cy="500000"/>
          </a:xfrm>
          <a:prstGeom prst="roundRect">
            <a:avLst>
              <a:gd name="adj" fmla="val 16000"/>
            </a:avLst>
          </a:prstGeom>
          <a:solidFill>
            <a:srgbClr val="6D28D9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900" b="1" dirty="0">
                <a:solidFill>
                  <a:srgbClr val="FFFFFF"/>
                </a:solidFill>
                <a:latin typeface="Calibri"/>
              </a:rPr>
              <a:t>LEADING EDGE</a:t>
            </a:r>
          </a:p>
        </p:txBody>
      </p:sp>
      <p:sp>
        <p:nvSpPr>
          <p:cNvPr id="72" name="T7Text"/>
          <p:cNvSpPr/>
          <p:nvPr/>
        </p:nvSpPr>
        <p:spPr>
          <a:xfrm>
            <a:off x="2230000" y="4040000"/>
            <a:ext cx="9800000" cy="620000"/>
          </a:xfrm>
          <a:prstGeom prst="rect">
            <a:avLst/>
          </a:prstGeom>
          <a:noFill/>
          <a:ln/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tr-TR" sz="1000" b="1" dirty="0">
                <a:solidFill>
                  <a:srgbClr val="1E3A5F"/>
                </a:solidFill>
                <a:latin typeface="Calibri"/>
              </a:rPr>
              <a:t>tags / list / signal yüzdeleri — </a:t>
            </a:r>
            <a:r>
              <a:rPr lang="tr-TR" sz="1000" dirty="0">
                <a:solidFill>
                  <a:srgbClr val="374151"/>
                </a:solidFill>
                <a:latin typeface="Calibri"/>
              </a:rPr>
              <a:t>tags: gen setinin yüzde kaçı "leading edge" içinde (örn. %69); list: tüm sıralı listenin yüzde kaçı taranmış; signal: zenginleşme sinyalinin gücü (tags ve list'in birleşik ölçütü). Yüksek tags% → set genleri güçlü şekilde kümelenmiş.</a:t>
            </a:r>
          </a:p>
        </p:txBody>
      </p:sp>
      <p:sp>
        <p:nvSpPr>
          <p:cNvPr id="80" name="SumBg"/>
          <p:cNvSpPr/>
          <p:nvPr/>
        </p:nvSpPr>
        <p:spPr>
          <a:xfrm>
            <a:off x="201168" y="4760000"/>
            <a:ext cx="11868912" cy="700000"/>
          </a:xfrm>
          <a:prstGeom prst="rect">
            <a:avLst/>
          </a:prstGeom>
          <a:solidFill>
            <a:srgbClr val="0F2D52"/>
          </a:solidFill>
        </p:spPr>
        <p:txBody>
          <a:bodyPr/>
          <a:lstStyle/>
          <a:p>
            <a:endParaRPr/>
          </a:p>
        </p:txBody>
      </p:sp>
      <p:sp>
        <p:nvSpPr>
          <p:cNvPr id="81" name="SumText"/>
          <p:cNvSpPr/>
          <p:nvPr/>
        </p:nvSpPr>
        <p:spPr>
          <a:xfrm>
            <a:off x="201168" y="4760000"/>
            <a:ext cx="11868912" cy="700000"/>
          </a:xfrm>
          <a:prstGeom prst="rect">
            <a:avLst/>
          </a:prstGeom>
          <a:noFill/>
          <a:ln/>
        </p:spPr>
        <p:txBody>
          <a:bodyPr wrap="square" lIns="182880" tIns="60000" rIns="182880" bIns="60000" rtlCol="0" anchor="ctr"/>
          <a:lstStyle/>
          <a:p>
            <a:pPr marL="0" indent="0">
              <a:buNone/>
            </a:pPr>
            <a:r>
              <a:rPr lang="tr-TR" sz="1050" b="1" dirty="0">
                <a:solidFill>
                  <a:srgbClr val="FCD34D"/>
                </a:solidFill>
                <a:latin typeface="Calibri"/>
              </a:rPr>
              <a:t>🔑  Pratik Okuma Kuralı: </a:t>
            </a:r>
            <a:r>
              <a:rPr lang="tr-TR" sz="1050" dirty="0">
                <a:solidFill>
                  <a:srgbClr val="E0F2FE"/>
                </a:solidFill>
                <a:latin typeface="Calibri"/>
              </a:rPr>
              <a:t>Bir gen setinin biyolojik olarak anlamlı kabul edilmesi için FDR q-val &lt; 0.05 VE NOM p-val &lt; 0.05 şartlarının ikisi de sağlanmalı. |NES| büyüklüğü etkinin gücünü, işareti (+/−) yönünü gösterir. Yön karşılaştırma sırasına bağlıdır, mutlak biyolojik anlam değişmez.</a:t>
            </a:r>
          </a:p>
        </p:txBody>
      </p:sp>
      <p:sp>
        <p:nvSpPr>
          <p:cNvPr id="99" name="BottomBar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</p:spPr>
        <p:txBody>
          <a:bodyPr wrap="square" lIns="182880" rIns="182880" rtlCol="0" anchor="ctr"/>
          <a:lstStyle/>
          <a:p>
            <a:pPr marL="0" indent="0">
              <a:buNone/>
            </a:pPr>
            <a:r>
              <a:rPr lang="tr-TR" sz="800" dirty="0">
                <a:solidFill>
                  <a:srgbClr val="BFDBFE"/>
                </a:solidFill>
                <a:latin typeface="Calibri"/>
              </a:rPr>
              <a:t>Nazar ERBAŞ  ·  220125105033  ·  Romatoid Artritte İskelet Kasının Moleküler Analizi  ·  Oliver et al. Communications Biology 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GSEA Makale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54864" cy="6601968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 lang="tr-TR"/>
          </a:p>
        </p:txBody>
      </p:sp>
      <p:sp>
        <p:nvSpPr>
          <p:cNvPr id="3" name="Title"/>
          <p:cNvSpPr/>
          <p:nvPr/>
        </p:nvSpPr>
        <p:spPr>
          <a:xfrm>
            <a:off x="201168" y="109728"/>
            <a:ext cx="1186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2600" b="1" dirty="0">
                <a:solidFill>
                  <a:srgbClr val="0F2D52"/>
                </a:solidFill>
                <a:latin typeface="Calibri" pitchFamily="34" charset="0"/>
              </a:rPr>
              <a:t>GSEA Analizi — Makale Sonuçları (Table 2)</a:t>
            </a:r>
          </a:p>
        </p:txBody>
      </p:sp>
      <p:sp>
        <p:nvSpPr>
          <p:cNvPr id="4" name="Subtitle"/>
          <p:cNvSpPr/>
          <p:nvPr/>
        </p:nvSpPr>
        <p:spPr>
          <a:xfrm>
            <a:off x="201168" y="566928"/>
            <a:ext cx="1186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200" i="1" dirty="0">
                <a:solidFill>
                  <a:srgbClr val="64748B"/>
                </a:solidFill>
                <a:latin typeface="Calibri" pitchFamily="34" charset="0"/>
              </a:rPr>
              <a:t>IFN-γ tedavili RA vs Tedavisiz RA  ·  Hallmark Gen Seti  ·  FDR &lt; 0.05  ·  Hipoksi, MTOR1, UPR yalnızca RA'da anlamlı</a:t>
            </a:r>
          </a:p>
        </p:txBody>
      </p:sp>
      <p:sp>
        <p:nvSpPr>
          <p:cNvPr id="5" name="Divider"/>
          <p:cNvSpPr/>
          <p:nvPr/>
        </p:nvSpPr>
        <p:spPr>
          <a:xfrm>
            <a:off x="201168" y="822960"/>
            <a:ext cx="11868912" cy="22860"/>
          </a:xfrm>
          <a:prstGeom prst="rect">
            <a:avLst/>
          </a:prstGeom>
          <a:solidFill>
            <a:srgbClr val="BFDBFE"/>
          </a:solidFill>
        </p:spPr>
        <p:txBody>
          <a:bodyPr/>
          <a:lstStyle/>
          <a:p>
            <a:endParaRPr lang="tr-TR"/>
          </a:p>
        </p:txBody>
      </p:sp>
      <p:sp>
        <p:nvSpPr>
          <p:cNvPr id="10" name="TableHeaderBg"/>
          <p:cNvSpPr/>
          <p:nvPr/>
        </p:nvSpPr>
        <p:spPr>
          <a:xfrm>
            <a:off x="201168" y="876960"/>
            <a:ext cx="11868912" cy="355728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 lang="tr-TR"/>
          </a:p>
        </p:txBody>
      </p:sp>
      <p:sp>
        <p:nvSpPr>
          <p:cNvPr id="11" name="TableHeader"/>
          <p:cNvSpPr/>
          <p:nvPr/>
        </p:nvSpPr>
        <p:spPr>
          <a:xfrm>
            <a:off x="201168" y="876960"/>
            <a:ext cx="11868912" cy="3557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tr-TR" sz="1000" b="1" dirty="0">
                <a:solidFill>
                  <a:srgbClr val="FFFFFF"/>
                </a:solidFill>
                <a:latin typeface="Calibri"/>
              </a:rPr>
              <a:t>Gen Seti                                                                    SIZE     ES        NES      NOM p      FDR q       Durum</a:t>
            </a:r>
          </a:p>
        </p:txBody>
      </p:sp>
      <p:sp>
        <p:nvSpPr>
          <p:cNvPr id="20" name="Row1Bg"/>
          <p:cNvSpPr/>
          <p:nvPr/>
        </p:nvSpPr>
        <p:spPr>
          <a:xfrm>
            <a:off x="201168" y="1232688"/>
            <a:ext cx="11868912" cy="273312"/>
          </a:xfrm>
          <a:prstGeom prst="rect">
            <a:avLst/>
          </a:prstGeom>
          <a:solidFill>
            <a:srgbClr val="EFF6FF"/>
          </a:solidFill>
        </p:spPr>
        <p:txBody>
          <a:bodyPr/>
          <a:lstStyle/>
          <a:p>
            <a:endParaRPr/>
          </a:p>
        </p:txBody>
      </p:sp>
      <p:sp>
        <p:nvSpPr>
          <p:cNvPr id="21" name="Row1"/>
          <p:cNvSpPr/>
          <p:nvPr/>
        </p:nvSpPr>
        <p:spPr>
          <a:xfrm>
            <a:off x="201168" y="1232688"/>
            <a:ext cx="11868912" cy="273312"/>
          </a:xfrm>
          <a:prstGeom prst="rect">
            <a:avLst/>
          </a:prstGeom>
          <a:noFill/>
          <a:ln/>
        </p:spPr>
        <p:txBody>
          <a:bodyPr wrap="square" lIns="91440" tIns="30000" rIns="91440" bIns="30000" rtlCol="0" anchor="ctr"/>
          <a:lstStyle/>
          <a:p>
            <a:pPr marL="0" indent="0">
              <a:buNone/>
            </a:pPr>
            <a:r>
              <a:rPr lang="tr-TR" sz="950" b="1" dirty="0">
                <a:solidFill>
                  <a:srgbClr val="1D4ED8"/>
                </a:solidFill>
                <a:latin typeface="Calibri"/>
              </a:rPr>
              <a:t>1  Interferon Gamma Response                                  199      +0.90    +2.60    &lt;0.001    &lt;0.001</a:t>
            </a:r>
          </a:p>
        </p:txBody>
      </p:sp>
      <p:sp>
        <p:nvSpPr>
          <p:cNvPr id="22" name="Badge1"/>
          <p:cNvSpPr/>
          <p:nvPr/>
        </p:nvSpPr>
        <p:spPr>
          <a:xfrm>
            <a:off x="11200000" y="1250000"/>
            <a:ext cx="750000" cy="230000"/>
          </a:xfrm>
          <a:prstGeom prst="roundRect">
            <a:avLst>
              <a:gd name="adj" fmla="val 30000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700" b="1" dirty="0">
                <a:solidFill>
                  <a:srgbClr val="FFFFFF"/>
                </a:solidFill>
                <a:latin typeface="Calibri"/>
              </a:rPr>
              <a:t>Her İkisinde</a:t>
            </a:r>
          </a:p>
        </p:txBody>
      </p:sp>
      <p:sp>
        <p:nvSpPr>
          <p:cNvPr id="30" name="Row2"/>
          <p:cNvSpPr/>
          <p:nvPr/>
        </p:nvSpPr>
        <p:spPr>
          <a:xfrm>
            <a:off x="201168" y="1506000"/>
            <a:ext cx="11868912" cy="255000"/>
          </a:xfrm>
          <a:prstGeom prst="rect">
            <a:avLst/>
          </a:prstGeom>
          <a:noFill/>
          <a:ln/>
        </p:spPr>
        <p:txBody>
          <a:bodyPr wrap="square" lIns="91440" tIns="30000" rIns="91440" bIns="30000" rtlCol="0" anchor="ctr"/>
          <a:lstStyle/>
          <a:p>
            <a:pPr marL="0" indent="0">
              <a:buNone/>
            </a:pPr>
            <a:r>
              <a:rPr lang="tr-TR" sz="950" dirty="0">
                <a:solidFill>
                  <a:srgbClr val="1E3A5F"/>
                </a:solidFill>
                <a:latin typeface="Calibri"/>
              </a:rPr>
              <a:t>2  Interferon Alpha Response                                    97      +0.94    +2.51    &lt;0.001    &lt;0.001</a:t>
            </a:r>
          </a:p>
        </p:txBody>
      </p:sp>
      <p:sp>
        <p:nvSpPr>
          <p:cNvPr id="31" name="Badge2"/>
          <p:cNvSpPr/>
          <p:nvPr/>
        </p:nvSpPr>
        <p:spPr>
          <a:xfrm>
            <a:off x="11200000" y="1523000"/>
            <a:ext cx="750000" cy="220000"/>
          </a:xfrm>
          <a:prstGeom prst="roundRect">
            <a:avLst>
              <a:gd name="adj" fmla="val 30000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700" b="1" dirty="0">
                <a:solidFill>
                  <a:srgbClr val="FFFFFF"/>
                </a:solidFill>
                <a:latin typeface="Calibri"/>
              </a:rPr>
              <a:t>Her İkisinde</a:t>
            </a:r>
          </a:p>
        </p:txBody>
      </p:sp>
      <p:sp>
        <p:nvSpPr>
          <p:cNvPr id="32" name="Row3Bg"/>
          <p:cNvSpPr/>
          <p:nvPr/>
        </p:nvSpPr>
        <p:spPr>
          <a:xfrm>
            <a:off x="201168" y="1761000"/>
            <a:ext cx="11868912" cy="255000"/>
          </a:xfrm>
          <a:prstGeom prst="rect">
            <a:avLst/>
          </a:prstGeom>
          <a:solidFill>
            <a:srgbClr val="EFF6FF"/>
          </a:solidFill>
        </p:spPr>
        <p:txBody>
          <a:bodyPr/>
          <a:lstStyle/>
          <a:p>
            <a:endParaRPr/>
          </a:p>
        </p:txBody>
      </p:sp>
      <p:sp>
        <p:nvSpPr>
          <p:cNvPr id="33" name="Row3"/>
          <p:cNvSpPr/>
          <p:nvPr/>
        </p:nvSpPr>
        <p:spPr>
          <a:xfrm>
            <a:off x="201168" y="1761000"/>
            <a:ext cx="11868912" cy="255000"/>
          </a:xfrm>
          <a:prstGeom prst="rect">
            <a:avLst/>
          </a:prstGeom>
          <a:noFill/>
          <a:ln/>
        </p:spPr>
        <p:txBody>
          <a:bodyPr wrap="square" lIns="91440" tIns="30000" rIns="91440" bIns="30000" rtlCol="0" anchor="ctr"/>
          <a:lstStyle/>
          <a:p>
            <a:pPr marL="0" indent="0">
              <a:buNone/>
            </a:pPr>
            <a:r>
              <a:rPr lang="tr-TR" sz="950" dirty="0">
                <a:solidFill>
                  <a:srgbClr val="1E3A5F"/>
                </a:solidFill>
                <a:latin typeface="Calibri"/>
              </a:rPr>
              <a:t>3  Inflammatory Response                                       200     +0.71    +2.08    &lt;0.001    &lt;0.001</a:t>
            </a:r>
          </a:p>
        </p:txBody>
      </p:sp>
      <p:sp>
        <p:nvSpPr>
          <p:cNvPr id="34" name="Badge3"/>
          <p:cNvSpPr/>
          <p:nvPr/>
        </p:nvSpPr>
        <p:spPr>
          <a:xfrm>
            <a:off x="11200000" y="1778000"/>
            <a:ext cx="750000" cy="220000"/>
          </a:xfrm>
          <a:prstGeom prst="roundRect">
            <a:avLst>
              <a:gd name="adj" fmla="val 30000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700" b="1" dirty="0">
                <a:solidFill>
                  <a:srgbClr val="FFFFFF"/>
                </a:solidFill>
                <a:latin typeface="Calibri"/>
              </a:rPr>
              <a:t>Her İkisinde</a:t>
            </a:r>
          </a:p>
        </p:txBody>
      </p:sp>
      <p:sp>
        <p:nvSpPr>
          <p:cNvPr id="40" name="Row4"/>
          <p:cNvSpPr/>
          <p:nvPr/>
        </p:nvSpPr>
        <p:spPr>
          <a:xfrm>
            <a:off x="201168" y="2016000"/>
            <a:ext cx="11868912" cy="255000"/>
          </a:xfrm>
          <a:prstGeom prst="rect">
            <a:avLst/>
          </a:prstGeom>
          <a:noFill/>
          <a:ln/>
        </p:spPr>
        <p:txBody>
          <a:bodyPr wrap="square" lIns="91440" tIns="30000" rIns="91440" bIns="30000" rtlCol="0" anchor="ctr"/>
          <a:lstStyle/>
          <a:p>
            <a:pPr marL="0" indent="0">
              <a:buNone/>
            </a:pPr>
            <a:r>
              <a:rPr lang="tr-TR" sz="950" dirty="0">
                <a:solidFill>
                  <a:srgbClr val="1E3A5F"/>
                </a:solidFill>
                <a:latin typeface="Calibri"/>
              </a:rPr>
              <a:t>4  IL-6 JAK/STAT3 Signaling                                      87      +0.78    +2.05    &lt;0.001    &lt;0.001</a:t>
            </a:r>
          </a:p>
        </p:txBody>
      </p:sp>
      <p:sp>
        <p:nvSpPr>
          <p:cNvPr id="41" name="Badge4"/>
          <p:cNvSpPr/>
          <p:nvPr/>
        </p:nvSpPr>
        <p:spPr>
          <a:xfrm>
            <a:off x="11200000" y="2033000"/>
            <a:ext cx="750000" cy="220000"/>
          </a:xfrm>
          <a:prstGeom prst="roundRect">
            <a:avLst>
              <a:gd name="adj" fmla="val 30000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700" b="1" dirty="0">
                <a:solidFill>
                  <a:srgbClr val="FFFFFF"/>
                </a:solidFill>
                <a:latin typeface="Calibri"/>
              </a:rPr>
              <a:t>Her İkisinde</a:t>
            </a:r>
          </a:p>
        </p:txBody>
      </p:sp>
      <p:sp>
        <p:nvSpPr>
          <p:cNvPr id="42" name="Row5Bg"/>
          <p:cNvSpPr/>
          <p:nvPr/>
        </p:nvSpPr>
        <p:spPr>
          <a:xfrm>
            <a:off x="201168" y="2271000"/>
            <a:ext cx="11868912" cy="255000"/>
          </a:xfrm>
          <a:prstGeom prst="rect">
            <a:avLst/>
          </a:prstGeom>
          <a:solidFill>
            <a:srgbClr val="EFF6FF"/>
          </a:solidFill>
        </p:spPr>
        <p:txBody>
          <a:bodyPr/>
          <a:lstStyle/>
          <a:p>
            <a:endParaRPr/>
          </a:p>
        </p:txBody>
      </p:sp>
      <p:sp>
        <p:nvSpPr>
          <p:cNvPr id="43" name="Row5"/>
          <p:cNvSpPr/>
          <p:nvPr/>
        </p:nvSpPr>
        <p:spPr>
          <a:xfrm>
            <a:off x="201168" y="2271000"/>
            <a:ext cx="11868912" cy="255000"/>
          </a:xfrm>
          <a:prstGeom prst="rect">
            <a:avLst/>
          </a:prstGeom>
          <a:noFill/>
          <a:ln/>
        </p:spPr>
        <p:txBody>
          <a:bodyPr wrap="square" lIns="91440" tIns="30000" rIns="91440" bIns="30000" rtlCol="0" anchor="ctr"/>
          <a:lstStyle/>
          <a:p>
            <a:pPr marL="0" indent="0">
              <a:buNone/>
            </a:pPr>
            <a:r>
              <a:rPr lang="tr-TR" sz="950" dirty="0">
                <a:solidFill>
                  <a:srgbClr val="1E3A5F"/>
                </a:solidFill>
                <a:latin typeface="Calibri"/>
              </a:rPr>
              <a:t>5  Apoptosis                                                          160     +0.60    +1.71    &lt;0.001    &lt;0.001</a:t>
            </a:r>
          </a:p>
        </p:txBody>
      </p:sp>
      <p:sp>
        <p:nvSpPr>
          <p:cNvPr id="44" name="Badge5"/>
          <p:cNvSpPr/>
          <p:nvPr/>
        </p:nvSpPr>
        <p:spPr>
          <a:xfrm>
            <a:off x="11200000" y="2288000"/>
            <a:ext cx="750000" cy="220000"/>
          </a:xfrm>
          <a:prstGeom prst="roundRect">
            <a:avLst>
              <a:gd name="adj" fmla="val 30000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700" b="1" dirty="0">
                <a:solidFill>
                  <a:srgbClr val="FFFFFF"/>
                </a:solidFill>
                <a:latin typeface="Calibri"/>
              </a:rPr>
              <a:t>Her İkisinde</a:t>
            </a:r>
          </a:p>
        </p:txBody>
      </p:sp>
      <p:sp>
        <p:nvSpPr>
          <p:cNvPr id="50" name="RAOnlyLabel"/>
          <p:cNvSpPr/>
          <p:nvPr/>
        </p:nvSpPr>
        <p:spPr>
          <a:xfrm>
            <a:off x="201168" y="2560000"/>
            <a:ext cx="11868912" cy="295000"/>
          </a:xfrm>
          <a:prstGeom prst="rect">
            <a:avLst/>
          </a:prstGeom>
          <a:solidFill>
            <a:srgbClr val="FEF3C7"/>
          </a:solidFill>
        </p:spPr>
        <p:txBody>
          <a:bodyPr wrap="square" lIns="91440" rIns="91440" rtlCol="0" anchor="ctr"/>
          <a:lstStyle/>
          <a:p>
            <a:pPr algn="ctr">
              <a:buNone/>
            </a:pPr>
            <a:r>
              <a:rPr lang="tr-TR" sz="1000" b="1" dirty="0">
                <a:solidFill>
                  <a:srgbClr val="92400E"/>
                </a:solidFill>
                <a:latin typeface="Calibri"/>
              </a:rPr>
              <a:t>★  YALNIZCA RA'da Anlamlı — Kontrol Miyobundllarında FDR &gt; 0.05  ★</a:t>
            </a:r>
          </a:p>
        </p:txBody>
      </p:sp>
      <p:sp>
        <p:nvSpPr>
          <p:cNvPr id="51" name="RowHypBg"/>
          <p:cNvSpPr/>
          <p:nvPr/>
        </p:nvSpPr>
        <p:spPr>
          <a:xfrm>
            <a:off x="201168" y="2855000"/>
            <a:ext cx="11868912" cy="270000"/>
          </a:xfrm>
          <a:prstGeom prst="rect">
            <a:avLst/>
          </a:prstGeom>
          <a:solidFill>
            <a:srgbClr val="FFF7ED"/>
          </a:solidFill>
        </p:spPr>
        <p:txBody>
          <a:bodyPr/>
          <a:lstStyle/>
          <a:p>
            <a:endParaRPr/>
          </a:p>
        </p:txBody>
      </p:sp>
      <p:sp>
        <p:nvSpPr>
          <p:cNvPr id="52" name="RowHyp"/>
          <p:cNvSpPr/>
          <p:nvPr/>
        </p:nvSpPr>
        <p:spPr>
          <a:xfrm>
            <a:off x="201168" y="2855000"/>
            <a:ext cx="11868912" cy="270000"/>
          </a:xfrm>
          <a:prstGeom prst="rect">
            <a:avLst/>
          </a:prstGeom>
          <a:noFill/>
          <a:ln/>
        </p:spPr>
        <p:txBody>
          <a:bodyPr wrap="square" lIns="91440" tIns="30000" rIns="91440" bIns="30000" rtlCol="0" anchor="ctr"/>
          <a:lstStyle/>
          <a:p>
            <a:pPr marL="0" indent="0">
              <a:buNone/>
            </a:pPr>
            <a:r>
              <a:rPr lang="tr-TR" sz="950" b="1" dirty="0">
                <a:solidFill>
                  <a:srgbClr val="B45309"/>
                </a:solidFill>
                <a:latin typeface="Calibri"/>
              </a:rPr>
              <a:t>13  Hypoxia  ★                                                        200     +0.52    +1.51    &lt;0.001     0.011    →  PIM1 ve MT-1E upregülasyonu</a:t>
            </a:r>
          </a:p>
        </p:txBody>
      </p:sp>
      <p:sp>
        <p:nvSpPr>
          <p:cNvPr id="53" name="BadgeHyp"/>
          <p:cNvSpPr/>
          <p:nvPr/>
        </p:nvSpPr>
        <p:spPr>
          <a:xfrm>
            <a:off x="11200000" y="2873000"/>
            <a:ext cx="750000" cy="230000"/>
          </a:xfrm>
          <a:prstGeom prst="roundRect">
            <a:avLst>
              <a:gd name="adj" fmla="val 30000"/>
            </a:avLst>
          </a:prstGeom>
          <a:solidFill>
            <a:srgbClr val="D97706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700" b="1" dirty="0">
                <a:solidFill>
                  <a:srgbClr val="FFFFFF"/>
                </a:solidFill>
                <a:latin typeface="Calibri"/>
              </a:rPr>
              <a:t>Sadece RA</a:t>
            </a:r>
          </a:p>
        </p:txBody>
      </p:sp>
      <p:sp>
        <p:nvSpPr>
          <p:cNvPr id="60" name="RowMTOR"/>
          <p:cNvSpPr/>
          <p:nvPr/>
        </p:nvSpPr>
        <p:spPr>
          <a:xfrm>
            <a:off x="201168" y="3125000"/>
            <a:ext cx="11868912" cy="270000"/>
          </a:xfrm>
          <a:prstGeom prst="rect">
            <a:avLst/>
          </a:prstGeom>
          <a:noFill/>
          <a:ln/>
        </p:spPr>
        <p:txBody>
          <a:bodyPr wrap="square" lIns="91440" tIns="30000" rIns="91440" bIns="30000" rtlCol="0" anchor="ctr"/>
          <a:lstStyle/>
          <a:p>
            <a:pPr marL="0" indent="0">
              <a:buNone/>
            </a:pPr>
            <a:r>
              <a:rPr lang="tr-TR" sz="950" b="1" dirty="0">
                <a:solidFill>
                  <a:srgbClr val="B45309"/>
                </a:solidFill>
                <a:latin typeface="Calibri"/>
              </a:rPr>
              <a:t>15  MTOR1 Signaling  ★                                             200     +0.48    +1.39     0.004     0.037    →  Otofaji disregülasyonu</a:t>
            </a:r>
          </a:p>
        </p:txBody>
      </p:sp>
      <p:sp>
        <p:nvSpPr>
          <p:cNvPr id="61" name="BadgeMTOR"/>
          <p:cNvSpPr/>
          <p:nvPr/>
        </p:nvSpPr>
        <p:spPr>
          <a:xfrm>
            <a:off x="11200000" y="3143000"/>
            <a:ext cx="750000" cy="230000"/>
          </a:xfrm>
          <a:prstGeom prst="roundRect">
            <a:avLst>
              <a:gd name="adj" fmla="val 30000"/>
            </a:avLst>
          </a:prstGeom>
          <a:solidFill>
            <a:srgbClr val="D97706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700" b="1" dirty="0">
                <a:solidFill>
                  <a:srgbClr val="FFFFFF"/>
                </a:solidFill>
                <a:latin typeface="Calibri"/>
              </a:rPr>
              <a:t>Sadece RA</a:t>
            </a:r>
          </a:p>
        </p:txBody>
      </p:sp>
      <p:sp>
        <p:nvSpPr>
          <p:cNvPr id="62" name="RowUPRBg"/>
          <p:cNvSpPr/>
          <p:nvPr/>
        </p:nvSpPr>
        <p:spPr>
          <a:xfrm>
            <a:off x="201168" y="3395000"/>
            <a:ext cx="11868912" cy="270000"/>
          </a:xfrm>
          <a:prstGeom prst="rect">
            <a:avLst/>
          </a:prstGeom>
          <a:solidFill>
            <a:srgbClr val="FFF7ED"/>
          </a:solidFill>
        </p:spPr>
        <p:txBody>
          <a:bodyPr/>
          <a:lstStyle/>
          <a:p>
            <a:endParaRPr/>
          </a:p>
        </p:txBody>
      </p:sp>
      <p:sp>
        <p:nvSpPr>
          <p:cNvPr id="63" name="RowUPR"/>
          <p:cNvSpPr/>
          <p:nvPr/>
        </p:nvSpPr>
        <p:spPr>
          <a:xfrm>
            <a:off x="201168" y="3395000"/>
            <a:ext cx="11868912" cy="270000"/>
          </a:xfrm>
          <a:prstGeom prst="rect">
            <a:avLst/>
          </a:prstGeom>
          <a:noFill/>
          <a:ln/>
        </p:spPr>
        <p:txBody>
          <a:bodyPr wrap="square" lIns="91440" tIns="30000" rIns="91440" bIns="30000" rtlCol="0" anchor="ctr"/>
          <a:lstStyle/>
          <a:p>
            <a:pPr marL="0" indent="0">
              <a:buNone/>
            </a:pPr>
            <a:r>
              <a:rPr lang="tr-TR" sz="950" b="1" dirty="0">
                <a:solidFill>
                  <a:srgbClr val="B45309"/>
                </a:solidFill>
                <a:latin typeface="Calibri"/>
              </a:rPr>
              <a:t>16  Unfolded Protein Response  ★                               113     +0.51    +1.36     0.022     0.049    →  ER stresi / sarkoplazma</a:t>
            </a:r>
          </a:p>
        </p:txBody>
      </p:sp>
      <p:sp>
        <p:nvSpPr>
          <p:cNvPr id="64" name="BadgeUPR"/>
          <p:cNvSpPr/>
          <p:nvPr/>
        </p:nvSpPr>
        <p:spPr>
          <a:xfrm>
            <a:off x="11200000" y="3413000"/>
            <a:ext cx="750000" cy="230000"/>
          </a:xfrm>
          <a:prstGeom prst="roundRect">
            <a:avLst>
              <a:gd name="adj" fmla="val 30000"/>
            </a:avLst>
          </a:prstGeom>
          <a:solidFill>
            <a:srgbClr val="D97706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700" b="1" dirty="0">
                <a:solidFill>
                  <a:srgbClr val="FFFFFF"/>
                </a:solidFill>
                <a:latin typeface="Calibri"/>
              </a:rPr>
              <a:t>Sadece RA</a:t>
            </a:r>
          </a:p>
        </p:txBody>
      </p:sp>
      <p:sp>
        <p:nvSpPr>
          <p:cNvPr id="70" name="LegendBlueBg"/>
          <p:cNvSpPr/>
          <p:nvPr/>
        </p:nvSpPr>
        <p:spPr>
          <a:xfrm>
            <a:off x="201168" y="3750000"/>
            <a:ext cx="565748" cy="2616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700" b="1" dirty="0">
                <a:solidFill>
                  <a:srgbClr val="FFFFFF"/>
                </a:solidFill>
                <a:latin typeface="Calibri"/>
              </a:rPr>
              <a:t>Her İkisinde</a:t>
            </a:r>
          </a:p>
        </p:txBody>
      </p:sp>
      <p:sp>
        <p:nvSpPr>
          <p:cNvPr id="71" name="LegendLabel1"/>
          <p:cNvSpPr/>
          <p:nvPr/>
        </p:nvSpPr>
        <p:spPr>
          <a:xfrm>
            <a:off x="650000" y="3750000"/>
            <a:ext cx="300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900" dirty="0">
                <a:solidFill>
                  <a:srgbClr val="374151"/>
                </a:solidFill>
                <a:latin typeface="Calibri"/>
              </a:rPr>
              <a:t>= RA ve Kontrol'de anlamlı (FDR &lt; 0.01)</a:t>
            </a:r>
          </a:p>
        </p:txBody>
      </p:sp>
      <p:sp>
        <p:nvSpPr>
          <p:cNvPr id="72" name="LegendOrangeBg"/>
          <p:cNvSpPr/>
          <p:nvPr/>
        </p:nvSpPr>
        <p:spPr>
          <a:xfrm>
            <a:off x="4223938" y="3750000"/>
            <a:ext cx="656062" cy="261640"/>
          </a:xfrm>
          <a:prstGeom prst="roundRect">
            <a:avLst>
              <a:gd name="adj" fmla="val 30000"/>
            </a:avLst>
          </a:prstGeom>
          <a:solidFill>
            <a:srgbClr val="D97706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700" b="1" dirty="0">
                <a:solidFill>
                  <a:srgbClr val="FFFFFF"/>
                </a:solidFill>
                <a:latin typeface="Calibri"/>
              </a:rPr>
              <a:t>Sadece RA</a:t>
            </a:r>
          </a:p>
        </p:txBody>
      </p:sp>
      <p:sp>
        <p:nvSpPr>
          <p:cNvPr id="73" name="LegendLabel2"/>
          <p:cNvSpPr/>
          <p:nvPr/>
        </p:nvSpPr>
        <p:spPr>
          <a:xfrm>
            <a:off x="4950000" y="3750000"/>
            <a:ext cx="350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900" dirty="0">
                <a:solidFill>
                  <a:srgbClr val="374151"/>
                </a:solidFill>
                <a:latin typeface="Calibri"/>
              </a:rPr>
              <a:t>= YALNIZCA RA miyobundllarında anlamlı (FDR &lt; 0.05) — çalışmanın kritik bulgusu</a:t>
            </a:r>
          </a:p>
        </p:txBody>
      </p:sp>
      <p:sp>
        <p:nvSpPr>
          <p:cNvPr id="99" name="BottomBar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</p:spPr>
        <p:txBody>
          <a:bodyPr wrap="square" lIns="182880" rIns="182880" rtlCol="0" anchor="ctr"/>
          <a:lstStyle/>
          <a:p>
            <a:pPr marL="0" indent="0">
              <a:buNone/>
            </a:pPr>
            <a:r>
              <a:rPr lang="tr-TR" sz="800" dirty="0">
                <a:solidFill>
                  <a:srgbClr val="BFDBFE"/>
                </a:solidFill>
                <a:latin typeface="Calibri"/>
              </a:rPr>
              <a:t>Nazar ERBAŞ  ·  220125105033  ·  Romatoid Artritte İskelet Kasının Moleküler Analizi  ·  Oliver et al. Communications Biology 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GSEA Karsilastirma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54864" cy="6601968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 lang="tr-TR"/>
          </a:p>
        </p:txBody>
      </p:sp>
      <p:sp>
        <p:nvSpPr>
          <p:cNvPr id="3" name="Title"/>
          <p:cNvSpPr/>
          <p:nvPr/>
        </p:nvSpPr>
        <p:spPr>
          <a:xfrm>
            <a:off x="201168" y="109728"/>
            <a:ext cx="11868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2600" b="1" dirty="0">
                <a:solidFill>
                  <a:srgbClr val="0F2D52"/>
                </a:solidFill>
                <a:latin typeface="Calibri"/>
              </a:rPr>
              <a:t>Kendi GSEA Analizimiz — Makale ile Karşılaştırma</a:t>
            </a:r>
          </a:p>
        </p:txBody>
      </p:sp>
      <p:sp>
        <p:nvSpPr>
          <p:cNvPr id="4" name="Subtitle"/>
          <p:cNvSpPr/>
          <p:nvPr/>
        </p:nvSpPr>
        <p:spPr>
          <a:xfrm>
            <a:off x="201168" y="566928"/>
            <a:ext cx="1186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200" i="1" dirty="0">
                <a:solidFill>
                  <a:srgbClr val="64748B"/>
                </a:solidFill>
                <a:latin typeface="Calibri"/>
              </a:rPr>
              <a:t>clusterProfiler + msigdbr (R)  ·  GSE283881 verisi  ·  Hallmark gen seti  ·  NES işareti: analiz yönüne göre değişir</a:t>
            </a:r>
          </a:p>
        </p:txBody>
      </p:sp>
      <p:sp>
        <p:nvSpPr>
          <p:cNvPr id="5" name="Divider"/>
          <p:cNvSpPr/>
          <p:nvPr/>
        </p:nvSpPr>
        <p:spPr>
          <a:xfrm>
            <a:off x="201168" y="822960"/>
            <a:ext cx="11868912" cy="22860"/>
          </a:xfrm>
          <a:prstGeom prst="rect">
            <a:avLst/>
          </a:prstGeom>
          <a:solidFill>
            <a:srgbClr val="BFDBFE"/>
          </a:solidFill>
        </p:spPr>
        <p:txBody>
          <a:bodyPr/>
          <a:lstStyle/>
          <a:p>
            <a:endParaRPr lang="tr-TR"/>
          </a:p>
        </p:txBody>
      </p:sp>
      <p:sp>
        <p:nvSpPr>
          <p:cNvPr id="6" name="InfoBox"/>
          <p:cNvSpPr/>
          <p:nvPr/>
        </p:nvSpPr>
        <p:spPr>
          <a:xfrm>
            <a:off x="201168" y="876960"/>
            <a:ext cx="11868912" cy="380000"/>
          </a:xfrm>
          <a:prstGeom prst="rect">
            <a:avLst/>
          </a:prstGeom>
          <a:solidFill>
            <a:srgbClr val="DBEAFE"/>
          </a:solidFill>
        </p:spPr>
        <p:txBody>
          <a:bodyPr wrap="square" lIns="182880" tIns="60000" rIns="182880" bIns="60000" rtlCol="0" anchor="ctr"/>
          <a:lstStyle/>
          <a:p>
            <a:pPr marL="0" indent="0">
              <a:buNone/>
            </a:pPr>
            <a:r>
              <a:rPr lang="tr-TR" sz="1000" b="1" dirty="0">
                <a:solidFill>
                  <a:srgbClr val="1E40AF"/>
                </a:solidFill>
                <a:latin typeface="Calibri"/>
              </a:rPr>
              <a:t>ℹ  Analiz Yönü Notu: </a:t>
            </a:r>
            <a:r>
              <a:rPr lang="tr-TR" sz="1000" dirty="0">
                <a:solidFill>
                  <a:srgbClr val="1E3A5F"/>
                </a:solidFill>
                <a:latin typeface="Calibri"/>
              </a:rPr>
              <a:t>Bizim analizimizde karşılaştırma yönü "Tedavisiz RA vs IFN-γ tedavili RA" olarak çalıştırıldığından NES değerleri negatif işaretlidir. Makalede ise "IFN-γ tedavili RA vs Tedavisiz RA" şeklinde tanımlandığı için NES pozitiftir. Mutlak değer |NES| ve FDR tutarlıdır — biyolojik yorum değişmez.</a:t>
            </a:r>
          </a:p>
        </p:txBody>
      </p:sp>
      <p:sp>
        <p:nvSpPr>
          <p:cNvPr id="10" name="CompHdrBg"/>
          <p:cNvSpPr/>
          <p:nvPr/>
        </p:nvSpPr>
        <p:spPr>
          <a:xfrm>
            <a:off x="201168" y="1300000"/>
            <a:ext cx="11868912" cy="33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endParaRPr/>
          </a:p>
        </p:txBody>
      </p:sp>
      <p:sp>
        <p:nvSpPr>
          <p:cNvPr id="11" name="CompHdr"/>
          <p:cNvSpPr/>
          <p:nvPr/>
        </p:nvSpPr>
        <p:spPr>
          <a:xfrm>
            <a:off x="201168" y="1300000"/>
            <a:ext cx="11868912" cy="330000"/>
          </a:xfrm>
          <a:prstGeom prst="rect">
            <a:avLst/>
          </a:prstGeom>
          <a:noFill/>
          <a:ln/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tr-TR" sz="1000" b="1" dirty="0">
                <a:solidFill>
                  <a:srgbClr val="FFFFFF"/>
                </a:solidFill>
                <a:latin typeface="Calibri"/>
              </a:rPr>
              <a:t>Gen Seti                                              Makale NES    Makale FDR    Bizim |NES|    Bizim FDR    Uyum</a:t>
            </a:r>
          </a:p>
        </p:txBody>
      </p:sp>
      <p:sp>
        <p:nvSpPr>
          <p:cNvPr id="20" name="CR1Bg"/>
          <p:cNvSpPr/>
          <p:nvPr/>
        </p:nvSpPr>
        <p:spPr>
          <a:xfrm>
            <a:off x="201168" y="1630000"/>
            <a:ext cx="11868912" cy="270000"/>
          </a:xfrm>
          <a:prstGeom prst="rect">
            <a:avLst/>
          </a:prstGeom>
          <a:solidFill>
            <a:srgbClr val="EFF6FF"/>
          </a:solidFill>
        </p:spPr>
        <p:txBody>
          <a:bodyPr/>
          <a:lstStyle/>
          <a:p>
            <a:endParaRPr/>
          </a:p>
        </p:txBody>
      </p:sp>
      <p:sp>
        <p:nvSpPr>
          <p:cNvPr id="21" name="CR1"/>
          <p:cNvSpPr/>
          <p:nvPr/>
        </p:nvSpPr>
        <p:spPr>
          <a:xfrm>
            <a:off x="201168" y="1630000"/>
            <a:ext cx="11868912" cy="270000"/>
          </a:xfrm>
          <a:prstGeom prst="rect">
            <a:avLst/>
          </a:prstGeom>
          <a:noFill/>
          <a:ln/>
        </p:spPr>
        <p:txBody>
          <a:bodyPr wrap="square" lIns="91440" tIns="30000" rIns="91440" bIns="30000" rtlCol="0" anchor="ctr"/>
          <a:lstStyle/>
          <a:p>
            <a:pPr marL="0" indent="0">
              <a:buNone/>
            </a:pPr>
            <a:r>
              <a:rPr lang="tr-TR" sz="950" dirty="0">
                <a:solidFill>
                  <a:srgbClr val="1E3A5F"/>
                </a:solidFill>
                <a:latin typeface="Calibri"/>
              </a:rPr>
              <a:t>Interferon Gamma Response                          +2.60         &lt;0.001          3.04           0.000</a:t>
            </a:r>
          </a:p>
        </p:txBody>
      </p:sp>
      <p:sp>
        <p:nvSpPr>
          <p:cNvPr id="22" name="CR1Badge"/>
          <p:cNvSpPr/>
          <p:nvPr/>
        </p:nvSpPr>
        <p:spPr>
          <a:xfrm>
            <a:off x="11250000" y="1648000"/>
            <a:ext cx="600000" cy="220000"/>
          </a:xfrm>
          <a:prstGeom prst="roundRect">
            <a:avLst>
              <a:gd name="adj" fmla="val 30000"/>
            </a:avLst>
          </a:prstGeom>
          <a:solidFill>
            <a:srgbClr val="16A34A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750" b="1" dirty="0">
                <a:solidFill>
                  <a:srgbClr val="FFFFFF"/>
                </a:solidFill>
                <a:latin typeface="Calibri"/>
              </a:rPr>
              <a:t>✓ Tutarlı</a:t>
            </a:r>
          </a:p>
        </p:txBody>
      </p:sp>
      <p:sp>
        <p:nvSpPr>
          <p:cNvPr id="30" name="CR2"/>
          <p:cNvSpPr/>
          <p:nvPr/>
        </p:nvSpPr>
        <p:spPr>
          <a:xfrm>
            <a:off x="201168" y="1900000"/>
            <a:ext cx="11868912" cy="270000"/>
          </a:xfrm>
          <a:prstGeom prst="rect">
            <a:avLst/>
          </a:prstGeom>
          <a:noFill/>
          <a:ln/>
        </p:spPr>
        <p:txBody>
          <a:bodyPr wrap="square" lIns="91440" tIns="30000" rIns="91440" bIns="30000" rtlCol="0" anchor="ctr"/>
          <a:lstStyle/>
          <a:p>
            <a:pPr marL="0" indent="0">
              <a:buNone/>
            </a:pPr>
            <a:r>
              <a:rPr lang="tr-TR" sz="950" dirty="0">
                <a:solidFill>
                  <a:srgbClr val="1E3A5F"/>
                </a:solidFill>
                <a:latin typeface="Calibri"/>
              </a:rPr>
              <a:t>Interferon Alpha Response                            +2.51         &lt;0.001          2.91           0.000</a:t>
            </a:r>
          </a:p>
        </p:txBody>
      </p:sp>
      <p:sp>
        <p:nvSpPr>
          <p:cNvPr id="31" name="CR2Badge"/>
          <p:cNvSpPr/>
          <p:nvPr/>
        </p:nvSpPr>
        <p:spPr>
          <a:xfrm>
            <a:off x="11250000" y="1918000"/>
            <a:ext cx="600000" cy="220000"/>
          </a:xfrm>
          <a:prstGeom prst="roundRect">
            <a:avLst>
              <a:gd name="adj" fmla="val 30000"/>
            </a:avLst>
          </a:prstGeom>
          <a:solidFill>
            <a:srgbClr val="16A34A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750" b="1" dirty="0">
                <a:solidFill>
                  <a:srgbClr val="FFFFFF"/>
                </a:solidFill>
                <a:latin typeface="Calibri"/>
              </a:rPr>
              <a:t>✓ Tutarlı</a:t>
            </a:r>
          </a:p>
        </p:txBody>
      </p:sp>
      <p:sp>
        <p:nvSpPr>
          <p:cNvPr id="32" name="CR3Bg"/>
          <p:cNvSpPr/>
          <p:nvPr/>
        </p:nvSpPr>
        <p:spPr>
          <a:xfrm>
            <a:off x="201168" y="2170000"/>
            <a:ext cx="11868912" cy="270000"/>
          </a:xfrm>
          <a:prstGeom prst="rect">
            <a:avLst/>
          </a:prstGeom>
          <a:solidFill>
            <a:srgbClr val="EFF6FF"/>
          </a:solidFill>
        </p:spPr>
        <p:txBody>
          <a:bodyPr/>
          <a:lstStyle/>
          <a:p>
            <a:endParaRPr/>
          </a:p>
        </p:txBody>
      </p:sp>
      <p:sp>
        <p:nvSpPr>
          <p:cNvPr id="33" name="CR3"/>
          <p:cNvSpPr/>
          <p:nvPr/>
        </p:nvSpPr>
        <p:spPr>
          <a:xfrm>
            <a:off x="201168" y="2170000"/>
            <a:ext cx="11868912" cy="270000"/>
          </a:xfrm>
          <a:prstGeom prst="rect">
            <a:avLst/>
          </a:prstGeom>
          <a:noFill/>
          <a:ln/>
        </p:spPr>
        <p:txBody>
          <a:bodyPr wrap="square" lIns="91440" tIns="30000" rIns="91440" bIns="30000" rtlCol="0" anchor="ctr"/>
          <a:lstStyle/>
          <a:p>
            <a:pPr marL="0" indent="0">
              <a:buNone/>
            </a:pPr>
            <a:r>
              <a:rPr lang="tr-TR" sz="950" dirty="0">
                <a:solidFill>
                  <a:srgbClr val="1E3A5F"/>
                </a:solidFill>
                <a:latin typeface="Calibri"/>
              </a:rPr>
              <a:t>Inflammatory Response                                +2.08         &lt;0.001          2.27           0.000</a:t>
            </a:r>
          </a:p>
        </p:txBody>
      </p:sp>
      <p:sp>
        <p:nvSpPr>
          <p:cNvPr id="34" name="CR3Badge"/>
          <p:cNvSpPr/>
          <p:nvPr/>
        </p:nvSpPr>
        <p:spPr>
          <a:xfrm>
            <a:off x="11250000" y="2188000"/>
            <a:ext cx="600000" cy="220000"/>
          </a:xfrm>
          <a:prstGeom prst="roundRect">
            <a:avLst>
              <a:gd name="adj" fmla="val 30000"/>
            </a:avLst>
          </a:prstGeom>
          <a:solidFill>
            <a:srgbClr val="16A34A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750" b="1" dirty="0">
                <a:solidFill>
                  <a:srgbClr val="FFFFFF"/>
                </a:solidFill>
                <a:latin typeface="Calibri"/>
              </a:rPr>
              <a:t>✓ Tutarlı</a:t>
            </a:r>
          </a:p>
        </p:txBody>
      </p:sp>
      <p:sp>
        <p:nvSpPr>
          <p:cNvPr id="40" name="CR4"/>
          <p:cNvSpPr/>
          <p:nvPr/>
        </p:nvSpPr>
        <p:spPr>
          <a:xfrm>
            <a:off x="201168" y="2440000"/>
            <a:ext cx="11868912" cy="270000"/>
          </a:xfrm>
          <a:prstGeom prst="rect">
            <a:avLst/>
          </a:prstGeom>
          <a:noFill/>
          <a:ln/>
        </p:spPr>
        <p:txBody>
          <a:bodyPr wrap="square" lIns="91440" tIns="30000" rIns="91440" bIns="30000" rtlCol="0" anchor="ctr"/>
          <a:lstStyle/>
          <a:p>
            <a:pPr marL="0" indent="0">
              <a:buNone/>
            </a:pPr>
            <a:r>
              <a:rPr lang="tr-TR" sz="950" dirty="0">
                <a:solidFill>
                  <a:srgbClr val="1E3A5F"/>
                </a:solidFill>
                <a:latin typeface="Calibri"/>
              </a:rPr>
              <a:t>Allograft Rejection                                        +2.13         &lt;0.001          2.50           0.000</a:t>
            </a:r>
          </a:p>
        </p:txBody>
      </p:sp>
      <p:sp>
        <p:nvSpPr>
          <p:cNvPr id="41" name="CR4Badge"/>
          <p:cNvSpPr/>
          <p:nvPr/>
        </p:nvSpPr>
        <p:spPr>
          <a:xfrm>
            <a:off x="11250000" y="2458000"/>
            <a:ext cx="600000" cy="220000"/>
          </a:xfrm>
          <a:prstGeom prst="roundRect">
            <a:avLst>
              <a:gd name="adj" fmla="val 30000"/>
            </a:avLst>
          </a:prstGeom>
          <a:solidFill>
            <a:srgbClr val="16A34A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750" b="1" dirty="0">
                <a:solidFill>
                  <a:srgbClr val="FFFFFF"/>
                </a:solidFill>
                <a:latin typeface="Calibri"/>
              </a:rPr>
              <a:t>✓ Tutarlı</a:t>
            </a:r>
          </a:p>
        </p:txBody>
      </p:sp>
      <p:sp>
        <p:nvSpPr>
          <p:cNvPr id="50" name="RAOnlySep"/>
          <p:cNvSpPr/>
          <p:nvPr/>
        </p:nvSpPr>
        <p:spPr>
          <a:xfrm>
            <a:off x="201168" y="2750000"/>
            <a:ext cx="11868912" cy="295000"/>
          </a:xfrm>
          <a:prstGeom prst="rect">
            <a:avLst/>
          </a:prstGeom>
          <a:solidFill>
            <a:srgbClr val="FEF3C7"/>
          </a:solidFill>
        </p:spPr>
        <p:txBody>
          <a:bodyPr wrap="square" lIns="91440" rIns="91440" rtlCol="0" anchor="ctr"/>
          <a:lstStyle/>
          <a:p>
            <a:pPr algn="ctr">
              <a:buNone/>
            </a:pPr>
            <a:r>
              <a:rPr lang="tr-TR" sz="1000" b="1" dirty="0">
                <a:solidFill>
                  <a:srgbClr val="92400E"/>
                </a:solidFill>
                <a:latin typeface="Calibri"/>
              </a:rPr>
              <a:t>★  Kritik Bulgu: Aşağıdaki 3 yolak YALNIZCA RA'da — bizim analizimizde de doğrulandı  ★</a:t>
            </a:r>
          </a:p>
        </p:txBody>
      </p:sp>
      <p:sp>
        <p:nvSpPr>
          <p:cNvPr id="51" name="RHypBg"/>
          <p:cNvSpPr/>
          <p:nvPr/>
        </p:nvSpPr>
        <p:spPr>
          <a:xfrm>
            <a:off x="201168" y="3045000"/>
            <a:ext cx="11868912" cy="270000"/>
          </a:xfrm>
          <a:prstGeom prst="rect">
            <a:avLst/>
          </a:prstGeom>
          <a:solidFill>
            <a:srgbClr val="FFF7ED"/>
          </a:solidFill>
        </p:spPr>
        <p:txBody>
          <a:bodyPr/>
          <a:lstStyle/>
          <a:p>
            <a:endParaRPr/>
          </a:p>
        </p:txBody>
      </p:sp>
      <p:sp>
        <p:nvSpPr>
          <p:cNvPr id="52" name="RHyp"/>
          <p:cNvSpPr/>
          <p:nvPr/>
        </p:nvSpPr>
        <p:spPr>
          <a:xfrm>
            <a:off x="201168" y="3045000"/>
            <a:ext cx="11868912" cy="270000"/>
          </a:xfrm>
          <a:prstGeom prst="rect">
            <a:avLst/>
          </a:prstGeom>
          <a:noFill/>
          <a:ln/>
        </p:spPr>
        <p:txBody>
          <a:bodyPr wrap="square" lIns="91440" tIns="30000" rIns="91440" bIns="30000" rtlCol="0" anchor="ctr"/>
          <a:lstStyle/>
          <a:p>
            <a:pPr marL="0" indent="0">
              <a:buNone/>
            </a:pPr>
            <a:r>
              <a:rPr lang="tr-TR" sz="950" b="1" dirty="0">
                <a:solidFill>
                  <a:srgbClr val="B45309"/>
                </a:solidFill>
                <a:latin typeface="Calibri"/>
              </a:rPr>
              <a:t>Hypoxia  ★                                                   +1.51          0.011           1.66           0.007</a:t>
            </a:r>
          </a:p>
        </p:txBody>
      </p:sp>
      <p:sp>
        <p:nvSpPr>
          <p:cNvPr id="53" name="RHypBadge"/>
          <p:cNvSpPr/>
          <p:nvPr/>
        </p:nvSpPr>
        <p:spPr>
          <a:xfrm>
            <a:off x="11250000" y="3063000"/>
            <a:ext cx="600000" cy="220000"/>
          </a:xfrm>
          <a:prstGeom prst="roundRect">
            <a:avLst>
              <a:gd name="adj" fmla="val 30000"/>
            </a:avLst>
          </a:prstGeom>
          <a:solidFill>
            <a:srgbClr val="16A34A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750" b="1" dirty="0">
                <a:solidFill>
                  <a:srgbClr val="FFFFFF"/>
                </a:solidFill>
                <a:latin typeface="Calibri"/>
              </a:rPr>
              <a:t>✓ Tutarlı</a:t>
            </a:r>
          </a:p>
        </p:txBody>
      </p:sp>
      <p:sp>
        <p:nvSpPr>
          <p:cNvPr id="60" name="RMTOR"/>
          <p:cNvSpPr/>
          <p:nvPr/>
        </p:nvSpPr>
        <p:spPr>
          <a:xfrm>
            <a:off x="201168" y="3315000"/>
            <a:ext cx="11868912" cy="270000"/>
          </a:xfrm>
          <a:prstGeom prst="rect">
            <a:avLst/>
          </a:prstGeom>
          <a:noFill/>
          <a:ln/>
        </p:spPr>
        <p:txBody>
          <a:bodyPr wrap="square" lIns="91440" tIns="30000" rIns="91440" bIns="30000" rtlCol="0" anchor="ctr"/>
          <a:lstStyle/>
          <a:p>
            <a:pPr marL="0" indent="0">
              <a:buNone/>
            </a:pPr>
            <a:r>
              <a:rPr lang="tr-TR" sz="950" b="1" dirty="0">
                <a:solidFill>
                  <a:srgbClr val="B45309"/>
                </a:solidFill>
                <a:latin typeface="Calibri"/>
              </a:rPr>
              <a:t>MTOR1 Signaling  ★                                     +1.39          0.037           1.68           0.005</a:t>
            </a:r>
          </a:p>
        </p:txBody>
      </p:sp>
      <p:sp>
        <p:nvSpPr>
          <p:cNvPr id="61" name="RMTORBadge"/>
          <p:cNvSpPr/>
          <p:nvPr/>
        </p:nvSpPr>
        <p:spPr>
          <a:xfrm>
            <a:off x="11250000" y="3333000"/>
            <a:ext cx="600000" cy="220000"/>
          </a:xfrm>
          <a:prstGeom prst="roundRect">
            <a:avLst>
              <a:gd name="adj" fmla="val 30000"/>
            </a:avLst>
          </a:prstGeom>
          <a:solidFill>
            <a:srgbClr val="16A34A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750" b="1" dirty="0">
                <a:solidFill>
                  <a:srgbClr val="FFFFFF"/>
                </a:solidFill>
                <a:latin typeface="Calibri"/>
              </a:rPr>
              <a:t>✓ Tutarlı</a:t>
            </a:r>
          </a:p>
        </p:txBody>
      </p:sp>
      <p:sp>
        <p:nvSpPr>
          <p:cNvPr id="62" name="RUPRBg"/>
          <p:cNvSpPr/>
          <p:nvPr/>
        </p:nvSpPr>
        <p:spPr>
          <a:xfrm>
            <a:off x="201168" y="3585000"/>
            <a:ext cx="11868912" cy="270000"/>
          </a:xfrm>
          <a:prstGeom prst="rect">
            <a:avLst/>
          </a:prstGeom>
          <a:solidFill>
            <a:srgbClr val="FFF7ED"/>
          </a:solidFill>
        </p:spPr>
        <p:txBody>
          <a:bodyPr/>
          <a:lstStyle/>
          <a:p>
            <a:endParaRPr/>
          </a:p>
        </p:txBody>
      </p:sp>
      <p:sp>
        <p:nvSpPr>
          <p:cNvPr id="63" name="RUPR"/>
          <p:cNvSpPr/>
          <p:nvPr/>
        </p:nvSpPr>
        <p:spPr>
          <a:xfrm>
            <a:off x="201168" y="3585000"/>
            <a:ext cx="11868912" cy="270000"/>
          </a:xfrm>
          <a:prstGeom prst="rect">
            <a:avLst/>
          </a:prstGeom>
          <a:noFill/>
          <a:ln/>
        </p:spPr>
        <p:txBody>
          <a:bodyPr wrap="square" lIns="91440" tIns="30000" rIns="91440" bIns="30000" rtlCol="0" anchor="ctr"/>
          <a:lstStyle/>
          <a:p>
            <a:pPr marL="0" indent="0">
              <a:buNone/>
            </a:pPr>
            <a:r>
              <a:rPr lang="tr-TR" sz="950" b="1" dirty="0">
                <a:solidFill>
                  <a:srgbClr val="B45309"/>
                </a:solidFill>
                <a:latin typeface="Calibri"/>
              </a:rPr>
              <a:t>Unfolded Protein Response  ★                       +1.36          0.049           1.56           0.019</a:t>
            </a:r>
          </a:p>
        </p:txBody>
      </p:sp>
      <p:sp>
        <p:nvSpPr>
          <p:cNvPr id="64" name="RUPRBadge"/>
          <p:cNvSpPr/>
          <p:nvPr/>
        </p:nvSpPr>
        <p:spPr>
          <a:xfrm>
            <a:off x="11250000" y="3603000"/>
            <a:ext cx="600000" cy="220000"/>
          </a:xfrm>
          <a:prstGeom prst="roundRect">
            <a:avLst>
              <a:gd name="adj" fmla="val 30000"/>
            </a:avLst>
          </a:prstGeom>
          <a:solidFill>
            <a:srgbClr val="16A34A"/>
          </a:solidFill>
        </p:spPr>
        <p:txBody>
          <a:bodyPr wrap="square" rtlCol="0" anchor="ctr"/>
          <a:lstStyle/>
          <a:p>
            <a:pPr algn="ctr">
              <a:buNone/>
            </a:pPr>
            <a:r>
              <a:rPr lang="tr-TR" sz="750" b="1" dirty="0">
                <a:solidFill>
                  <a:srgbClr val="FFFFFF"/>
                </a:solidFill>
                <a:latin typeface="Calibri"/>
              </a:rPr>
              <a:t>✓ Tutarlı</a:t>
            </a:r>
          </a:p>
        </p:txBody>
      </p:sp>
      <p:sp>
        <p:nvSpPr>
          <p:cNvPr id="80" name="ConcBg"/>
          <p:cNvSpPr/>
          <p:nvPr/>
        </p:nvSpPr>
        <p:spPr>
          <a:xfrm>
            <a:off x="201168" y="3910000"/>
            <a:ext cx="11868912" cy="620000"/>
          </a:xfrm>
          <a:prstGeom prst="rect">
            <a:avLst/>
          </a:prstGeom>
          <a:solidFill>
            <a:srgbClr val="0F2D52"/>
          </a:solidFill>
        </p:spPr>
        <p:txBody>
          <a:bodyPr/>
          <a:lstStyle/>
          <a:p>
            <a:endParaRPr/>
          </a:p>
        </p:txBody>
      </p:sp>
      <p:sp>
        <p:nvSpPr>
          <p:cNvPr id="81" name="Conc"/>
          <p:cNvSpPr/>
          <p:nvPr/>
        </p:nvSpPr>
        <p:spPr>
          <a:xfrm>
            <a:off x="201168" y="3910000"/>
            <a:ext cx="11868912" cy="620000"/>
          </a:xfrm>
          <a:prstGeom prst="rect">
            <a:avLst/>
          </a:prstGeom>
          <a:noFill/>
          <a:ln/>
        </p:spPr>
        <p:txBody>
          <a:bodyPr wrap="square" lIns="182880" tIns="60000" rIns="182880" bIns="60000" rtlCol="0" anchor="ctr"/>
          <a:lstStyle/>
          <a:p>
            <a:pPr marL="0" indent="0">
              <a:buNone/>
            </a:pPr>
            <a:r>
              <a:rPr lang="tr-TR" sz="1050" b="1" dirty="0">
                <a:solidFill>
                  <a:srgbClr val="FCD34D"/>
                </a:solidFill>
                <a:latin typeface="Calibri"/>
              </a:rPr>
              <a:t>✔  Sonuç: </a:t>
            </a:r>
            <a:r>
              <a:rPr lang="tr-TR" sz="1050" dirty="0">
                <a:solidFill>
                  <a:srgbClr val="E0F2FE"/>
                </a:solidFill>
                <a:latin typeface="Calibri"/>
              </a:rPr>
              <a:t>Kendi bağımsız GSEA analizimiz, makaledeki tüm kritik bulguları doğruladı. IFN-γ yanıtı, inflamatuvar yolaklar ve RA'ya özgü Hipoksi / MTOR1 / UPR zenginleşmesi bağımsız analizimizde de anlamlı bulundu. NES işaret farkı analiz yönünden kaynaklanmakta olup biyolojik yorumu değiştirmemektedir.</a:t>
            </a:r>
          </a:p>
        </p:txBody>
      </p:sp>
      <p:sp>
        <p:nvSpPr>
          <p:cNvPr id="99" name="BottomBar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</p:spPr>
        <p:txBody>
          <a:bodyPr wrap="square" lIns="182880" rIns="182880" rtlCol="0" anchor="ctr"/>
          <a:lstStyle/>
          <a:p>
            <a:pPr marL="0" indent="0">
              <a:buNone/>
            </a:pPr>
            <a:r>
              <a:rPr lang="tr-TR" sz="800" dirty="0">
                <a:solidFill>
                  <a:srgbClr val="BFDBFE"/>
                </a:solidFill>
                <a:latin typeface="Calibri"/>
              </a:rPr>
              <a:t>Nazar ERBAŞ  ·  220125105033  ·  Romatoid Artritte İskelet Kasının Moleküler Analizi  ·  Oliver et al. Communications Biology 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54864" cy="66019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itle"/>
          <p:cNvSpPr txBox="1"/>
          <p:nvPr/>
        </p:nvSpPr>
        <p:spPr>
          <a:xfrm>
            <a:off x="201168" y="109728"/>
            <a:ext cx="1186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600" b="1" dirty="0">
                <a:solidFill>
                  <a:srgbClr val="0F2D52"/>
                </a:solidFill>
                <a:latin typeface="Calibri" pitchFamily="34" charset="0"/>
                <a:cs typeface="Calibri" pitchFamily="34" charset="0"/>
              </a:rPr>
              <a:t>Hallmark Gen Setleri Neden Kullanıldı?</a:t>
            </a:r>
          </a:p>
        </p:txBody>
      </p:sp>
      <p:sp>
        <p:nvSpPr>
          <p:cNvPr id="4" name="Sub"/>
          <p:cNvSpPr txBox="1"/>
          <p:nvPr/>
        </p:nvSpPr>
        <p:spPr>
          <a:xfrm>
            <a:off x="201168" y="566928"/>
            <a:ext cx="1186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i="1" dirty="0">
                <a:solidFill>
                  <a:srgbClr val="64748B"/>
                </a:solidFill>
                <a:latin typeface="Calibri" pitchFamily="34" charset="0"/>
                <a:cs typeface="Calibri" pitchFamily="34" charset="0"/>
              </a:rPr>
              <a:t>MSigDB Hallmark Koleksiyonu  ·  GSEA Referans Gen Setleri  ·  Bu çalışmada kullanılan 7 hallmark seti</a:t>
            </a:r>
          </a:p>
        </p:txBody>
      </p:sp>
      <p:sp>
        <p:nvSpPr>
          <p:cNvPr id="5" name="Div"/>
          <p:cNvSpPr/>
          <p:nvPr/>
        </p:nvSpPr>
        <p:spPr>
          <a:xfrm>
            <a:off x="201168" y="822960"/>
            <a:ext cx="11868912" cy="2286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BottomBar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FooterText"/>
          <p:cNvSpPr txBox="1"/>
          <p:nvPr/>
        </p:nvSpPr>
        <p:spPr>
          <a:xfrm>
            <a:off x="274320" y="662025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Nazar ERBAŞ  ·  220125105033  ·  Romatoid Artritte İskelet Kasının Moleküler Analizi  ·  Oliver et al. Communications Biology 2025</a:t>
            </a:r>
          </a:p>
        </p:txBody>
      </p:sp>
      <p:sp>
        <p:nvSpPr>
          <p:cNvPr id="8" name="PageNum"/>
          <p:cNvSpPr txBox="1"/>
          <p:nvPr/>
        </p:nvSpPr>
        <p:spPr>
          <a:xfrm>
            <a:off x="11777472" y="66202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9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17</a:t>
            </a:r>
          </a:p>
        </p:txBody>
      </p:sp>
      <p:sp>
        <p:nvSpPr>
          <p:cNvPr id="9" name="LHdrBg"/>
          <p:cNvSpPr/>
          <p:nvPr/>
        </p:nvSpPr>
        <p:spPr>
          <a:xfrm>
            <a:off x="201168" y="960120"/>
            <a:ext cx="5669280" cy="4000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LHdrTxt"/>
          <p:cNvSpPr txBox="1"/>
          <p:nvPr/>
        </p:nvSpPr>
        <p:spPr>
          <a:xfrm>
            <a:off x="291168" y="960120"/>
            <a:ext cx="548928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📋  Hallmark Gen Setleri ve Temsil Ettiği Süreç</a:t>
            </a:r>
          </a:p>
        </p:txBody>
      </p:sp>
      <p:graphicFrame>
        <p:nvGraphicFramePr>
          <p:cNvPr id="11" name="HallmarkTable"/>
          <p:cNvGraphicFramePr>
            <a:graphicFrameLocks noGrp="1"/>
          </p:cNvGraphicFramePr>
          <p:nvPr/>
        </p:nvGraphicFramePr>
        <p:xfrm>
          <a:off x="201168" y="1400120"/>
          <a:ext cx="5669280" cy="3760000"/>
        </p:xfrm>
        <a:graphic>
          <a:graphicData uri="http://schemas.openxmlformats.org/drawingml/2006/table">
            <a:tbl>
              <a:tblPr firstRow="1"/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tr-TR" sz="1100" b="1" dirty="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0"/>
                        </a:rPr>
                        <a:t>Hallmark Seti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100" b="1" dirty="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0"/>
                        </a:rPr>
                        <a:t>Temsil Ettiği Süreç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tr-TR" sz="1050" b="1" dirty="0">
                          <a:solidFill>
                            <a:srgbClr val="0F2D52"/>
                          </a:solidFill>
                          <a:latin typeface="Calibri" pitchFamily="34" charset="0"/>
                          <a:cs typeface="Calibri" pitchFamily="34" charset="0"/>
                        </a:rPr>
                        <a:t>Interferon Gamma Response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50" dirty="0">
                          <a:solidFill>
                            <a:srgbClr val="374151"/>
                          </a:solidFill>
                          <a:latin typeface="Calibri" pitchFamily="34" charset="0"/>
                          <a:cs typeface="Calibri" pitchFamily="34" charset="0"/>
                        </a:rPr>
                        <a:t>IFN-γ yanıtı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tr-TR" sz="1050" b="1" dirty="0">
                          <a:solidFill>
                            <a:srgbClr val="0F2D52"/>
                          </a:solidFill>
                          <a:latin typeface="Calibri" pitchFamily="34" charset="0"/>
                          <a:cs typeface="Calibri" pitchFamily="34" charset="0"/>
                        </a:rPr>
                        <a:t>Interferon Alpha Response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50" dirty="0">
                          <a:solidFill>
                            <a:srgbClr val="374151"/>
                          </a:solidFill>
                          <a:latin typeface="Calibri" pitchFamily="34" charset="0"/>
                          <a:cs typeface="Calibri" pitchFamily="34" charset="0"/>
                        </a:rPr>
                        <a:t>Antiviral yanıt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tr-TR" sz="1050" b="1" dirty="0">
                          <a:solidFill>
                            <a:srgbClr val="0F2D52"/>
                          </a:solidFill>
                          <a:latin typeface="Calibri" pitchFamily="34" charset="0"/>
                          <a:cs typeface="Calibri" pitchFamily="34" charset="0"/>
                        </a:rPr>
                        <a:t>TNFA Signaling via NFκB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50" dirty="0">
                          <a:solidFill>
                            <a:srgbClr val="374151"/>
                          </a:solidFill>
                          <a:latin typeface="Calibri" pitchFamily="34" charset="0"/>
                          <a:cs typeface="Calibri" pitchFamily="34" charset="0"/>
                        </a:rPr>
                        <a:t>İnflamasyon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tr-TR" sz="1050" b="1" dirty="0">
                          <a:solidFill>
                            <a:srgbClr val="0F2D52"/>
                          </a:solidFill>
                          <a:latin typeface="Calibri" pitchFamily="34" charset="0"/>
                          <a:cs typeface="Calibri" pitchFamily="34" charset="0"/>
                        </a:rPr>
                        <a:t>IL6-JAK-STAT3 Signaling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50" dirty="0">
                          <a:solidFill>
                            <a:srgbClr val="374151"/>
                          </a:solidFill>
                          <a:latin typeface="Calibri" pitchFamily="34" charset="0"/>
                          <a:cs typeface="Calibri" pitchFamily="34" charset="0"/>
                        </a:rPr>
                        <a:t>Sitokin sinyali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tr-TR" sz="1050" b="1" dirty="0">
                          <a:solidFill>
                            <a:srgbClr val="0F2D52"/>
                          </a:solidFill>
                          <a:latin typeface="Calibri" pitchFamily="34" charset="0"/>
                          <a:cs typeface="Calibri" pitchFamily="34" charset="0"/>
                        </a:rPr>
                        <a:t>Hypoxia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50" dirty="0">
                          <a:solidFill>
                            <a:srgbClr val="374151"/>
                          </a:solidFill>
                          <a:latin typeface="Calibri" pitchFamily="34" charset="0"/>
                          <a:cs typeface="Calibri" pitchFamily="34" charset="0"/>
                        </a:rPr>
                        <a:t>Metabolik stres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tr-TR" sz="1050" b="1" dirty="0">
                          <a:solidFill>
                            <a:srgbClr val="0F2D52"/>
                          </a:solidFill>
                          <a:latin typeface="Calibri" pitchFamily="34" charset="0"/>
                          <a:cs typeface="Calibri" pitchFamily="34" charset="0"/>
                        </a:rPr>
                        <a:t>MTORC1 Signaling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50" dirty="0">
                          <a:solidFill>
                            <a:srgbClr val="374151"/>
                          </a:solidFill>
                          <a:latin typeface="Calibri" pitchFamily="34" charset="0"/>
                          <a:cs typeface="Calibri" pitchFamily="34" charset="0"/>
                        </a:rPr>
                        <a:t>Protein sentezi ve otofaji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tr-TR" sz="1050" b="1" dirty="0">
                          <a:solidFill>
                            <a:srgbClr val="0F2D52"/>
                          </a:solidFill>
                          <a:latin typeface="Calibri" pitchFamily="34" charset="0"/>
                          <a:cs typeface="Calibri" pitchFamily="34" charset="0"/>
                        </a:rPr>
                        <a:t>Unfolded Protein Response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50" dirty="0">
                          <a:solidFill>
                            <a:srgbClr val="374151"/>
                          </a:solidFill>
                          <a:latin typeface="Calibri" pitchFamily="34" charset="0"/>
                          <a:cs typeface="Calibri" pitchFamily="34" charset="0"/>
                        </a:rPr>
                        <a:t>ER stresi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RHdrBg"/>
          <p:cNvSpPr/>
          <p:nvPr/>
        </p:nvSpPr>
        <p:spPr>
          <a:xfrm>
            <a:off x="6071616" y="960120"/>
            <a:ext cx="5669280" cy="400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RHdrTxt"/>
          <p:cNvSpPr txBox="1"/>
          <p:nvPr/>
        </p:nvSpPr>
        <p:spPr>
          <a:xfrm>
            <a:off x="6161616" y="960120"/>
            <a:ext cx="548928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💡  Neden Hallmark Koleksiyonu?</a:t>
            </a:r>
          </a:p>
        </p:txBody>
      </p:sp>
      <p:sp>
        <p:nvSpPr>
          <p:cNvPr id="14" name="RBodyBg"/>
          <p:cNvSpPr/>
          <p:nvPr/>
        </p:nvSpPr>
        <p:spPr>
          <a:xfrm>
            <a:off x="6071616" y="1400120"/>
            <a:ext cx="5669280" cy="2520000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RBodyTxt"/>
          <p:cNvSpPr txBox="1"/>
          <p:nvPr/>
        </p:nvSpPr>
        <p:spPr>
          <a:xfrm>
            <a:off x="6231616" y="1480120"/>
            <a:ext cx="5429280" cy="4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D28D9"/>
              </a:buClr>
              <a:buFont typeface="Arial"/>
              <a:buChar char="•"/>
            </a:pPr>
            <a:r>
              <a:rPr lang="tr-TR" sz="1100" b="1" dirty="0">
                <a:solidFill>
                  <a:srgbClr val="6D28D9"/>
                </a:solidFill>
                <a:latin typeface="Calibri" pitchFamily="34" charset="0"/>
                <a:cs typeface="Calibri" pitchFamily="34" charset="0"/>
              </a:rPr>
              <a:t>50 Hallmark Seti — </a:t>
            </a:r>
            <a:r>
              <a:rPr lang="tr-TR" sz="1100" dirty="0">
                <a:solidFill>
                  <a:srgbClr val="374151"/>
                </a:solidFill>
                <a:latin typeface="Calibri" pitchFamily="34" charset="0"/>
                <a:cs typeface="Calibri" pitchFamily="34" charset="0"/>
              </a:rPr>
              <a:t>50 adet iyi tanımlanmış biyolojik süreç içerir.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D28D9"/>
              </a:buClr>
              <a:buFont typeface="Arial"/>
              <a:buChar char="•"/>
            </a:pPr>
            <a:r>
              <a:rPr lang="tr-TR" sz="1100" b="1" dirty="0">
                <a:solidFill>
                  <a:srgbClr val="6D28D9"/>
                </a:solidFill>
                <a:latin typeface="Calibri" pitchFamily="34" charset="0"/>
                <a:cs typeface="Calibri" pitchFamily="34" charset="0"/>
              </a:rPr>
              <a:t>Konsolide Koleksiyon — </a:t>
            </a:r>
            <a:r>
              <a:rPr lang="tr-TR" sz="1100" dirty="0">
                <a:solidFill>
                  <a:srgbClr val="374151"/>
                </a:solidFill>
                <a:latin typeface="Calibri" pitchFamily="34" charset="0"/>
                <a:cs typeface="Calibri" pitchFamily="34" charset="0"/>
              </a:rPr>
              <a:t>Binlerce gen setinin konsolide edilmiş halidir.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D28D9"/>
              </a:buClr>
              <a:buFont typeface="Arial"/>
              <a:buChar char="•"/>
            </a:pPr>
            <a:r>
              <a:rPr lang="tr-TR" sz="1100" b="1" dirty="0">
                <a:solidFill>
                  <a:srgbClr val="6D28D9"/>
                </a:solidFill>
                <a:latin typeface="Calibri" pitchFamily="34" charset="0"/>
                <a:cs typeface="Calibri" pitchFamily="34" charset="0"/>
              </a:rPr>
              <a:t>Azaltılmış Örtüşme — </a:t>
            </a:r>
            <a:r>
              <a:rPr lang="tr-TR" sz="1100" dirty="0">
                <a:solidFill>
                  <a:srgbClr val="374151"/>
                </a:solidFill>
                <a:latin typeface="Calibri" pitchFamily="34" charset="0"/>
                <a:cs typeface="Calibri" pitchFamily="34" charset="0"/>
              </a:rPr>
              <a:t>Gen setleri arasındaki örtüşme azaltılmıştır.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D28D9"/>
              </a:buClr>
              <a:buFont typeface="Arial"/>
              <a:buChar char="•"/>
            </a:pPr>
            <a:r>
              <a:rPr lang="tr-TR" sz="1100" b="1" dirty="0">
                <a:solidFill>
                  <a:srgbClr val="6D28D9"/>
                </a:solidFill>
                <a:latin typeface="Calibri" pitchFamily="34" charset="0"/>
                <a:cs typeface="Calibri" pitchFamily="34" charset="0"/>
              </a:rPr>
              <a:t>Net Yorum — </a:t>
            </a:r>
            <a:r>
              <a:rPr lang="tr-TR" sz="1100" dirty="0">
                <a:solidFill>
                  <a:srgbClr val="374151"/>
                </a:solidFill>
                <a:latin typeface="Calibri" pitchFamily="34" charset="0"/>
                <a:cs typeface="Calibri" pitchFamily="34" charset="0"/>
              </a:rPr>
              <a:t>Gürültüyü azaltarak biyolojik yorumu kolaylaştırır.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D28D9"/>
              </a:buClr>
              <a:buFont typeface="Arial"/>
              <a:buChar char="•"/>
            </a:pPr>
            <a:r>
              <a:rPr lang="tr-TR" sz="1100" b="1" dirty="0">
                <a:solidFill>
                  <a:srgbClr val="6D28D9"/>
                </a:solidFill>
                <a:latin typeface="Calibri" pitchFamily="34" charset="0"/>
                <a:cs typeface="Calibri" pitchFamily="34" charset="0"/>
              </a:rPr>
              <a:t>Standart Referans — </a:t>
            </a:r>
            <a:r>
              <a:rPr lang="tr-TR" sz="1100" dirty="0">
                <a:solidFill>
                  <a:srgbClr val="374151"/>
                </a:solidFill>
                <a:latin typeface="Calibri" pitchFamily="34" charset="0"/>
                <a:cs typeface="Calibri" pitchFamily="34" charset="0"/>
              </a:rPr>
              <a:t>GSEA analizlerinde en sık kullanılan referans koleksiyonlardan biridir.</a:t>
            </a:r>
          </a:p>
        </p:txBody>
      </p:sp>
      <p:sp>
        <p:nvSpPr>
          <p:cNvPr id="16" name="MsgBar"/>
          <p:cNvSpPr/>
          <p:nvPr/>
        </p:nvSpPr>
        <p:spPr>
          <a:xfrm>
            <a:off x="201168" y="5989320"/>
            <a:ext cx="11789664" cy="6126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MsgLabel"/>
          <p:cNvSpPr txBox="1"/>
          <p:nvPr/>
        </p:nvSpPr>
        <p:spPr>
          <a:xfrm>
            <a:off x="384048" y="6044568"/>
            <a:ext cx="2926080" cy="50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00" b="1" dirty="0">
                <a:solidFill>
                  <a:srgbClr val="7DD3FC"/>
                </a:solidFill>
                <a:latin typeface="Calibri" pitchFamily="34" charset="0"/>
                <a:cs typeface="Calibri" pitchFamily="34" charset="0"/>
              </a:rPr>
              <a:t>🔑  Ana Mesaj:</a:t>
            </a:r>
          </a:p>
        </p:txBody>
      </p:sp>
      <p:sp>
        <p:nvSpPr>
          <p:cNvPr id="18" name="MsgText"/>
          <p:cNvSpPr txBox="1"/>
          <p:nvPr/>
        </p:nvSpPr>
        <p:spPr>
          <a:xfrm>
            <a:off x="3383280" y="6044568"/>
            <a:ext cx="8229600" cy="50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05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Hallmark koleksiyonu sayesinde IFN-γ'nın kas hücresinde hangi biyolojik programları aktive ettiği güvenilir şekilde belirlenmiştir.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54864" cy="66019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itle"/>
          <p:cNvSpPr txBox="1"/>
          <p:nvPr/>
        </p:nvSpPr>
        <p:spPr>
          <a:xfrm>
            <a:off x="201168" y="109728"/>
            <a:ext cx="1186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600" b="1" dirty="0">
                <a:solidFill>
                  <a:srgbClr val="0F2D52"/>
                </a:solidFill>
                <a:latin typeface="Calibri" pitchFamily="34" charset="0"/>
                <a:cs typeface="Calibri" pitchFamily="34" charset="0"/>
              </a:rPr>
              <a:t>Leading Edge Analizi Nedir?</a:t>
            </a:r>
          </a:p>
        </p:txBody>
      </p:sp>
      <p:sp>
        <p:nvSpPr>
          <p:cNvPr id="4" name="Sub"/>
          <p:cNvSpPr txBox="1"/>
          <p:nvPr/>
        </p:nvSpPr>
        <p:spPr>
          <a:xfrm>
            <a:off x="201168" y="566928"/>
            <a:ext cx="1186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i="1" dirty="0">
                <a:solidFill>
                  <a:srgbClr val="64748B"/>
                </a:solidFill>
                <a:latin typeface="Calibri" pitchFamily="34" charset="0"/>
                <a:cs typeface="Calibri" pitchFamily="34" charset="0"/>
              </a:rPr>
              <a:t>GSEA sonucunu sürükleyen anahtar genler  ·  Interferon Gamma Response yolağı</a:t>
            </a:r>
          </a:p>
        </p:txBody>
      </p:sp>
      <p:sp>
        <p:nvSpPr>
          <p:cNvPr id="5" name="Div"/>
          <p:cNvSpPr/>
          <p:nvPr/>
        </p:nvSpPr>
        <p:spPr>
          <a:xfrm>
            <a:off x="201168" y="822960"/>
            <a:ext cx="11868912" cy="2286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BottomBar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FooterText"/>
          <p:cNvSpPr txBox="1"/>
          <p:nvPr/>
        </p:nvSpPr>
        <p:spPr>
          <a:xfrm>
            <a:off x="274320" y="662025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Nazar ERBAŞ  ·  220125105033  ·  Romatoid Artritte İskelet Kasının Moleküler Analizi  ·  Oliver et al. Communications Biology 2025</a:t>
            </a:r>
          </a:p>
        </p:txBody>
      </p:sp>
      <p:sp>
        <p:nvSpPr>
          <p:cNvPr id="8" name="PageNum"/>
          <p:cNvSpPr txBox="1"/>
          <p:nvPr/>
        </p:nvSpPr>
        <p:spPr>
          <a:xfrm>
            <a:off x="11777472" y="66202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9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18</a:t>
            </a:r>
          </a:p>
        </p:txBody>
      </p:sp>
      <p:sp>
        <p:nvSpPr>
          <p:cNvPr id="9" name="DefBg"/>
          <p:cNvSpPr/>
          <p:nvPr/>
        </p:nvSpPr>
        <p:spPr>
          <a:xfrm>
            <a:off x="201168" y="960120"/>
            <a:ext cx="11868912" cy="76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DefAccent"/>
          <p:cNvSpPr/>
          <p:nvPr/>
        </p:nvSpPr>
        <p:spPr>
          <a:xfrm>
            <a:off x="201168" y="960120"/>
            <a:ext cx="54864" cy="760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DefTxt"/>
          <p:cNvSpPr txBox="1"/>
          <p:nvPr/>
        </p:nvSpPr>
        <p:spPr>
          <a:xfrm>
            <a:off x="401168" y="980120"/>
            <a:ext cx="11538912" cy="70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tr-TR" sz="1250" b="1" dirty="0">
                <a:solidFill>
                  <a:srgbClr val="0F2D52"/>
                </a:solidFill>
                <a:latin typeface="Calibri" pitchFamily="34" charset="0"/>
                <a:cs typeface="Calibri" pitchFamily="34" charset="0"/>
              </a:rPr>
              <a:t>GSEA Sonucunda Her Gen Eşit Katkı Sağlamaz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00" dirty="0">
                <a:solidFill>
                  <a:srgbClr val="374151"/>
                </a:solidFill>
                <a:latin typeface="Calibri" pitchFamily="34" charset="0"/>
                <a:cs typeface="Calibri" pitchFamily="34" charset="0"/>
              </a:rPr>
              <a:t>Bir gen setinin anlamlı çıkmasını sağlayan belirli genler vardır. Bu genlere </a:t>
            </a:r>
            <a:r>
              <a:rPr lang="tr-TR" sz="1100" b="1" dirty="0">
                <a:solidFill>
                  <a:srgbClr val="2563EB"/>
                </a:solidFill>
                <a:latin typeface="Calibri" pitchFamily="34" charset="0"/>
                <a:cs typeface="Calibri" pitchFamily="34" charset="0"/>
              </a:rPr>
              <a:t>Leading Edge Genleri</a:t>
            </a:r>
            <a:r>
              <a:rPr lang="tr-TR" sz="1100" dirty="0">
                <a:solidFill>
                  <a:srgbClr val="374151"/>
                </a:solidFill>
                <a:latin typeface="Calibri" pitchFamily="34" charset="0"/>
                <a:cs typeface="Calibri" pitchFamily="34" charset="0"/>
              </a:rPr>
              <a:t> adı verilir.</a:t>
            </a:r>
          </a:p>
        </p:txBody>
      </p:sp>
      <p:sp>
        <p:nvSpPr>
          <p:cNvPr id="12" name="ChipsLbl"/>
          <p:cNvSpPr txBox="1"/>
          <p:nvPr/>
        </p:nvSpPr>
        <p:spPr>
          <a:xfrm>
            <a:off x="201168" y="1840000"/>
            <a:ext cx="11868912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00" b="1" dirty="0">
                <a:solidFill>
                  <a:srgbClr val="0F2D52"/>
                </a:solidFill>
                <a:latin typeface="Calibri" pitchFamily="34" charset="0"/>
                <a:cs typeface="Calibri" pitchFamily="34" charset="0"/>
              </a:rPr>
              <a:t>🧬  Interferon Gamma Response — Leading Edge Genleri</a:t>
            </a:r>
          </a:p>
        </p:txBody>
      </p:sp>
      <p:sp>
        <p:nvSpPr>
          <p:cNvPr id="13" name="Chip0"/>
          <p:cNvSpPr/>
          <p:nvPr/>
        </p:nvSpPr>
        <p:spPr>
          <a:xfrm>
            <a:off x="201168" y="2230000"/>
            <a:ext cx="1410000" cy="520000"/>
          </a:xfrm>
          <a:prstGeom prst="rect">
            <a:avLst/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ChipTxt0"/>
          <p:cNvSpPr txBox="1"/>
          <p:nvPr/>
        </p:nvSpPr>
        <p:spPr>
          <a:xfrm>
            <a:off x="201168" y="2230000"/>
            <a:ext cx="141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50" b="1" dirty="0">
                <a:solidFill>
                  <a:srgbClr val="6D28D9"/>
                </a:solidFill>
                <a:latin typeface="Calibri" pitchFamily="34" charset="0"/>
                <a:cs typeface="Calibri" pitchFamily="34" charset="0"/>
              </a:rPr>
              <a:t>STAT1</a:t>
            </a:r>
          </a:p>
        </p:txBody>
      </p:sp>
      <p:sp>
        <p:nvSpPr>
          <p:cNvPr id="15" name="Chip1"/>
          <p:cNvSpPr/>
          <p:nvPr/>
        </p:nvSpPr>
        <p:spPr>
          <a:xfrm>
            <a:off x="1665024" y="2230000"/>
            <a:ext cx="1410000" cy="520000"/>
          </a:xfrm>
          <a:prstGeom prst="rect">
            <a:avLst/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ChipTxt1"/>
          <p:cNvSpPr txBox="1"/>
          <p:nvPr/>
        </p:nvSpPr>
        <p:spPr>
          <a:xfrm>
            <a:off x="1665024" y="2230000"/>
            <a:ext cx="141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50" b="1" dirty="0">
                <a:solidFill>
                  <a:srgbClr val="6D28D9"/>
                </a:solidFill>
                <a:latin typeface="Calibri" pitchFamily="34" charset="0"/>
                <a:cs typeface="Calibri" pitchFamily="34" charset="0"/>
              </a:rPr>
              <a:t>IRF1</a:t>
            </a:r>
          </a:p>
        </p:txBody>
      </p:sp>
      <p:sp>
        <p:nvSpPr>
          <p:cNvPr id="17" name="Chip2"/>
          <p:cNvSpPr/>
          <p:nvPr/>
        </p:nvSpPr>
        <p:spPr>
          <a:xfrm>
            <a:off x="3128880" y="2230000"/>
            <a:ext cx="1410000" cy="520000"/>
          </a:xfrm>
          <a:prstGeom prst="rect">
            <a:avLst/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ChipTxt2"/>
          <p:cNvSpPr txBox="1"/>
          <p:nvPr/>
        </p:nvSpPr>
        <p:spPr>
          <a:xfrm>
            <a:off x="3128880" y="2230000"/>
            <a:ext cx="141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50" b="1" dirty="0">
                <a:solidFill>
                  <a:srgbClr val="6D28D9"/>
                </a:solidFill>
                <a:latin typeface="Calibri" pitchFamily="34" charset="0"/>
                <a:cs typeface="Calibri" pitchFamily="34" charset="0"/>
              </a:rPr>
              <a:t>CXCL9</a:t>
            </a:r>
          </a:p>
        </p:txBody>
      </p:sp>
      <p:sp>
        <p:nvSpPr>
          <p:cNvPr id="19" name="Chip3"/>
          <p:cNvSpPr/>
          <p:nvPr/>
        </p:nvSpPr>
        <p:spPr>
          <a:xfrm>
            <a:off x="4592736" y="2230000"/>
            <a:ext cx="1410000" cy="520000"/>
          </a:xfrm>
          <a:prstGeom prst="rect">
            <a:avLst/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ChipTxt3"/>
          <p:cNvSpPr txBox="1"/>
          <p:nvPr/>
        </p:nvSpPr>
        <p:spPr>
          <a:xfrm>
            <a:off x="4592736" y="2230000"/>
            <a:ext cx="141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50" b="1" dirty="0">
                <a:solidFill>
                  <a:srgbClr val="6D28D9"/>
                </a:solidFill>
                <a:latin typeface="Calibri" pitchFamily="34" charset="0"/>
                <a:cs typeface="Calibri" pitchFamily="34" charset="0"/>
              </a:rPr>
              <a:t>CXCL10</a:t>
            </a:r>
          </a:p>
        </p:txBody>
      </p:sp>
      <p:sp>
        <p:nvSpPr>
          <p:cNvPr id="21" name="Chip4"/>
          <p:cNvSpPr/>
          <p:nvPr/>
        </p:nvSpPr>
        <p:spPr>
          <a:xfrm>
            <a:off x="201168" y="2830000"/>
            <a:ext cx="1410000" cy="520000"/>
          </a:xfrm>
          <a:prstGeom prst="rect">
            <a:avLst/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ChipTxt4"/>
          <p:cNvSpPr txBox="1"/>
          <p:nvPr/>
        </p:nvSpPr>
        <p:spPr>
          <a:xfrm>
            <a:off x="201168" y="2830000"/>
            <a:ext cx="141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50" b="1" dirty="0">
                <a:solidFill>
                  <a:srgbClr val="6D28D9"/>
                </a:solidFill>
                <a:latin typeface="Calibri" pitchFamily="34" charset="0"/>
                <a:cs typeface="Calibri" pitchFamily="34" charset="0"/>
              </a:rPr>
              <a:t>CIITA</a:t>
            </a:r>
          </a:p>
        </p:txBody>
      </p:sp>
      <p:sp>
        <p:nvSpPr>
          <p:cNvPr id="23" name="Chip5"/>
          <p:cNvSpPr/>
          <p:nvPr/>
        </p:nvSpPr>
        <p:spPr>
          <a:xfrm>
            <a:off x="1665024" y="2830000"/>
            <a:ext cx="1410000" cy="520000"/>
          </a:xfrm>
          <a:prstGeom prst="rect">
            <a:avLst/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ChipTxt5"/>
          <p:cNvSpPr txBox="1"/>
          <p:nvPr/>
        </p:nvSpPr>
        <p:spPr>
          <a:xfrm>
            <a:off x="1665024" y="2830000"/>
            <a:ext cx="141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50" b="1" dirty="0">
                <a:solidFill>
                  <a:srgbClr val="6D28D9"/>
                </a:solidFill>
                <a:latin typeface="Calibri" pitchFamily="34" charset="0"/>
                <a:cs typeface="Calibri" pitchFamily="34" charset="0"/>
              </a:rPr>
              <a:t>CD74</a:t>
            </a:r>
          </a:p>
        </p:txBody>
      </p:sp>
      <p:sp>
        <p:nvSpPr>
          <p:cNvPr id="25" name="Chip6"/>
          <p:cNvSpPr/>
          <p:nvPr/>
        </p:nvSpPr>
        <p:spPr>
          <a:xfrm>
            <a:off x="3128880" y="2830000"/>
            <a:ext cx="1410000" cy="520000"/>
          </a:xfrm>
          <a:prstGeom prst="rect">
            <a:avLst/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ChipTxt6"/>
          <p:cNvSpPr txBox="1"/>
          <p:nvPr/>
        </p:nvSpPr>
        <p:spPr>
          <a:xfrm>
            <a:off x="3128880" y="2830000"/>
            <a:ext cx="141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50" b="1" dirty="0">
                <a:solidFill>
                  <a:srgbClr val="6D28D9"/>
                </a:solidFill>
                <a:latin typeface="Calibri" pitchFamily="34" charset="0"/>
                <a:cs typeface="Calibri" pitchFamily="34" charset="0"/>
              </a:rPr>
              <a:t>HLA-DRA</a:t>
            </a:r>
          </a:p>
        </p:txBody>
      </p:sp>
      <p:sp>
        <p:nvSpPr>
          <p:cNvPr id="27" name="Chip7"/>
          <p:cNvSpPr/>
          <p:nvPr/>
        </p:nvSpPr>
        <p:spPr>
          <a:xfrm>
            <a:off x="4592736" y="2830000"/>
            <a:ext cx="1410000" cy="520000"/>
          </a:xfrm>
          <a:prstGeom prst="rect">
            <a:avLst/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ChipTxt7"/>
          <p:cNvSpPr txBox="1"/>
          <p:nvPr/>
        </p:nvSpPr>
        <p:spPr>
          <a:xfrm>
            <a:off x="4592736" y="2830000"/>
            <a:ext cx="141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50" b="1" dirty="0">
                <a:solidFill>
                  <a:srgbClr val="6D28D9"/>
                </a:solidFill>
                <a:latin typeface="Calibri" pitchFamily="34" charset="0"/>
                <a:cs typeface="Calibri" pitchFamily="34" charset="0"/>
              </a:rPr>
              <a:t>GBP4</a:t>
            </a:r>
          </a:p>
        </p:txBody>
      </p:sp>
      <p:sp>
        <p:nvSpPr>
          <p:cNvPr id="29" name="MeanBg"/>
          <p:cNvSpPr/>
          <p:nvPr/>
        </p:nvSpPr>
        <p:spPr>
          <a:xfrm>
            <a:off x="201168" y="3570000"/>
            <a:ext cx="11868912" cy="190000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MeanAccent"/>
          <p:cNvSpPr/>
          <p:nvPr/>
        </p:nvSpPr>
        <p:spPr>
          <a:xfrm>
            <a:off x="201168" y="3570000"/>
            <a:ext cx="54864" cy="1900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MeanTxt"/>
          <p:cNvSpPr txBox="1"/>
          <p:nvPr/>
        </p:nvSpPr>
        <p:spPr>
          <a:xfrm>
            <a:off x="401168" y="3630000"/>
            <a:ext cx="11538912" cy="178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r-TR" sz="1200" b="1" dirty="0">
                <a:solidFill>
                  <a:srgbClr val="B45309"/>
                </a:solidFill>
                <a:latin typeface="Calibri" pitchFamily="34" charset="0"/>
                <a:cs typeface="Calibri" pitchFamily="34" charset="0"/>
              </a:rPr>
              <a:t>🧪  Biyolojik Anlam — Bu Genler: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B45309"/>
              </a:buClr>
              <a:buFont typeface="Arial"/>
              <a:buChar char="•"/>
            </a:pPr>
            <a:r>
              <a:rPr lang="tr-TR" sz="1200" dirty="0">
                <a:solidFill>
                  <a:srgbClr val="374151"/>
                </a:solidFill>
                <a:latin typeface="Calibri" pitchFamily="34" charset="0"/>
                <a:cs typeface="Calibri" pitchFamily="34" charset="0"/>
              </a:rPr>
              <a:t>IFN-γ sinyalinin doğrudan hedefleridir.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B45309"/>
              </a:buClr>
              <a:buFont typeface="Arial"/>
              <a:buChar char="•"/>
            </a:pPr>
            <a:r>
              <a:rPr lang="tr-TR" sz="1200" dirty="0">
                <a:solidFill>
                  <a:srgbClr val="374151"/>
                </a:solidFill>
                <a:latin typeface="Calibri" pitchFamily="34" charset="0"/>
                <a:cs typeface="Calibri" pitchFamily="34" charset="0"/>
              </a:rPr>
              <a:t>Pathway aktivasyonunu sürükleyen (driver) genlerdir.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B45309"/>
              </a:buClr>
              <a:buFont typeface="Arial"/>
              <a:buChar char="•"/>
            </a:pPr>
            <a:r>
              <a:rPr lang="tr-TR" sz="1200" dirty="0">
                <a:solidFill>
                  <a:srgbClr val="374151"/>
                </a:solidFill>
                <a:latin typeface="Calibri" pitchFamily="34" charset="0"/>
                <a:cs typeface="Calibri" pitchFamily="34" charset="0"/>
              </a:rPr>
              <a:t>RA kas hücrelerinde inflamatuvar dönüşümün temel belirleyicileridir.</a:t>
            </a:r>
          </a:p>
        </p:txBody>
      </p:sp>
      <p:sp>
        <p:nvSpPr>
          <p:cNvPr id="32" name="MsgBar"/>
          <p:cNvSpPr/>
          <p:nvPr/>
        </p:nvSpPr>
        <p:spPr>
          <a:xfrm>
            <a:off x="201168" y="5989320"/>
            <a:ext cx="11789664" cy="6126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3" name="MsgLabel"/>
          <p:cNvSpPr txBox="1"/>
          <p:nvPr/>
        </p:nvSpPr>
        <p:spPr>
          <a:xfrm>
            <a:off x="384048" y="6044568"/>
            <a:ext cx="2926080" cy="50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00" b="1" dirty="0">
                <a:solidFill>
                  <a:srgbClr val="7DD3FC"/>
                </a:solidFill>
                <a:latin typeface="Calibri" pitchFamily="34" charset="0"/>
                <a:cs typeface="Calibri" pitchFamily="34" charset="0"/>
              </a:rPr>
              <a:t>🔑  Ana Mesaj:</a:t>
            </a:r>
          </a:p>
        </p:txBody>
      </p:sp>
      <p:sp>
        <p:nvSpPr>
          <p:cNvPr id="34" name="MsgText"/>
          <p:cNvSpPr txBox="1"/>
          <p:nvPr/>
        </p:nvSpPr>
        <p:spPr>
          <a:xfrm>
            <a:off x="3383280" y="6044568"/>
            <a:ext cx="8229600" cy="50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05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Pathway'in anlamlı çıkmasına en fazla katkı sağlayan genler Leading Edge genleridir.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54864" cy="66019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itle"/>
          <p:cNvSpPr txBox="1"/>
          <p:nvPr/>
        </p:nvSpPr>
        <p:spPr>
          <a:xfrm>
            <a:off x="201168" y="109728"/>
            <a:ext cx="1186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600" b="1" dirty="0">
                <a:solidFill>
                  <a:srgbClr val="0F2D52"/>
                </a:solidFill>
                <a:latin typeface="Calibri" pitchFamily="34" charset="0"/>
                <a:cs typeface="Calibri" pitchFamily="34" charset="0"/>
              </a:rPr>
              <a:t>Hipoksi Gen Setinin Arkasındaki Genler: PIM1 ve MT-1E</a:t>
            </a:r>
          </a:p>
        </p:txBody>
      </p:sp>
      <p:sp>
        <p:nvSpPr>
          <p:cNvPr id="4" name="Sub"/>
          <p:cNvSpPr txBox="1"/>
          <p:nvPr/>
        </p:nvSpPr>
        <p:spPr>
          <a:xfrm>
            <a:off x="201168" y="566928"/>
            <a:ext cx="1186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i="1" dirty="0">
                <a:solidFill>
                  <a:srgbClr val="64748B"/>
                </a:solidFill>
                <a:latin typeface="Calibri" pitchFamily="34" charset="0"/>
                <a:cs typeface="Calibri" pitchFamily="34" charset="0"/>
              </a:rPr>
              <a:t>RA'ya özgü zenginleşmeyi sürükleyen iki lider gen  ·  |log₂FC| ≥ 2, padj &lt; 0.05  ·  sadece IFN-γ ile tedavi edilen RA miyobundllarında anlamlı</a:t>
            </a:r>
          </a:p>
        </p:txBody>
      </p:sp>
      <p:sp>
        <p:nvSpPr>
          <p:cNvPr id="5" name="Div"/>
          <p:cNvSpPr/>
          <p:nvPr/>
        </p:nvSpPr>
        <p:spPr>
          <a:xfrm>
            <a:off x="201168" y="822960"/>
            <a:ext cx="11868912" cy="2286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BottomBar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FooterText"/>
          <p:cNvSpPr txBox="1"/>
          <p:nvPr/>
        </p:nvSpPr>
        <p:spPr>
          <a:xfrm>
            <a:off x="274320" y="662025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Nazar ERBAŞ  ·  220125105033  ·  Romatoid Artritte İskelet Kasının Moleküler Analizi  ·  Oliver et al. Communications Biology 2025</a:t>
            </a:r>
          </a:p>
        </p:txBody>
      </p:sp>
      <p:sp>
        <p:nvSpPr>
          <p:cNvPr id="8" name="PageNum"/>
          <p:cNvSpPr txBox="1"/>
          <p:nvPr/>
        </p:nvSpPr>
        <p:spPr>
          <a:xfrm>
            <a:off x="11777472" y="66202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9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19</a:t>
            </a:r>
          </a:p>
        </p:txBody>
      </p:sp>
      <p:sp>
        <p:nvSpPr>
          <p:cNvPr id="9" name="PimBg"/>
          <p:cNvSpPr/>
          <p:nvPr/>
        </p:nvSpPr>
        <p:spPr>
          <a:xfrm>
            <a:off x="201168" y="960120"/>
            <a:ext cx="5669280" cy="490000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PimAccent"/>
          <p:cNvSpPr/>
          <p:nvPr/>
        </p:nvSpPr>
        <p:spPr>
          <a:xfrm>
            <a:off x="201168" y="960120"/>
            <a:ext cx="54864" cy="4900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PimTitle"/>
          <p:cNvSpPr txBox="1"/>
          <p:nvPr/>
        </p:nvSpPr>
        <p:spPr>
          <a:xfrm>
            <a:off x="421168" y="1070120"/>
            <a:ext cx="534928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 b="1" dirty="0">
                <a:solidFill>
                  <a:srgbClr val="B45309"/>
                </a:solidFill>
                <a:latin typeface="Calibri" pitchFamily="34" charset="0"/>
                <a:cs typeface="Calibri" pitchFamily="34" charset="0"/>
              </a:rPr>
              <a:t>🧪  PIM1</a:t>
            </a:r>
            <a:r>
              <a:rPr lang="tr-TR" sz="1050" dirty="0">
                <a:solidFill>
                  <a:srgbClr val="92400E"/>
                </a:solidFill>
                <a:latin typeface="Calibri" pitchFamily="34" charset="0"/>
                <a:cs typeface="Calibri" pitchFamily="34" charset="0"/>
              </a:rPr>
              <a:t>   — Hipoksi Gen Seti, Lider Gen</a:t>
            </a:r>
          </a:p>
        </p:txBody>
      </p:sp>
      <p:sp>
        <p:nvSpPr>
          <p:cNvPr id="12" name="PimDiv1"/>
          <p:cNvSpPr/>
          <p:nvPr/>
        </p:nvSpPr>
        <p:spPr>
          <a:xfrm>
            <a:off x="421168" y="1570120"/>
            <a:ext cx="5229280" cy="18288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tat"/>
          <p:cNvSpPr txBox="1"/>
          <p:nvPr/>
        </p:nvSpPr>
        <p:spPr>
          <a:xfrm>
            <a:off x="421168" y="1620120"/>
            <a:ext cx="522928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200" b="1" dirty="0">
                <a:solidFill>
                  <a:srgbClr val="B45309"/>
                </a:solidFill>
                <a:latin typeface="Calibri" pitchFamily="34" charset="0"/>
                <a:cs typeface="Calibri" pitchFamily="34" charset="0"/>
              </a:rPr>
              <a:t>log₂FC = 2.078</a:t>
            </a:r>
          </a:p>
        </p:txBody>
      </p:sp>
      <p:sp>
        <p:nvSpPr>
          <p:cNvPr id="14" name="StatLbl"/>
          <p:cNvSpPr txBox="1"/>
          <p:nvPr/>
        </p:nvSpPr>
        <p:spPr>
          <a:xfrm>
            <a:off x="421168" y="2160120"/>
            <a:ext cx="522928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950" i="1" dirty="0">
                <a:solidFill>
                  <a:srgbClr val="64748B"/>
                </a:solidFill>
                <a:latin typeface="Calibri" pitchFamily="34" charset="0"/>
                <a:cs typeface="Calibri" pitchFamily="34" charset="0"/>
              </a:rPr>
              <a:t>padj = 1.17 × 10⁻¹⁸  ·  yalnızca RA + IFN-γ'da anlamlı</a:t>
            </a:r>
          </a:p>
        </p:txBody>
      </p:sp>
      <p:sp>
        <p:nvSpPr>
          <p:cNvPr id="15" name="PimRoles"/>
          <p:cNvSpPr txBox="1"/>
          <p:nvPr/>
        </p:nvSpPr>
        <p:spPr>
          <a:xfrm>
            <a:off x="421168" y="2460120"/>
            <a:ext cx="522928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Clr>
                <a:srgbClr val="B45309"/>
              </a:buClr>
              <a:buFont typeface="Arial"/>
              <a:buChar char="•"/>
            </a:pPr>
            <a:r>
              <a:rPr lang="tr-TR" sz="1000" dirty="0">
                <a:solidFill>
                  <a:srgbClr val="374151"/>
                </a:solidFill>
                <a:latin typeface="Calibri" pitchFamily="34" charset="0"/>
                <a:cs typeface="Calibri" pitchFamily="34" charset="0"/>
              </a:rPr>
              <a:t>JAK/STAT sinyalinin doğrudan hedef genidir.</a:t>
            </a:r>
          </a:p>
          <a:p>
            <a:pPr marL="285750" indent="-285750"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Clr>
                <a:srgbClr val="B45309"/>
              </a:buClr>
              <a:buFont typeface="Arial"/>
              <a:buChar char="•"/>
            </a:pPr>
            <a:r>
              <a:rPr lang="tr-TR" sz="1000" dirty="0">
                <a:solidFill>
                  <a:srgbClr val="374151"/>
                </a:solidFill>
                <a:latin typeface="Calibri" pitchFamily="34" charset="0"/>
                <a:cs typeface="Calibri" pitchFamily="34" charset="0"/>
              </a:rPr>
              <a:t>Hipoksiyle artan bir hücresel stres kinazıdır.</a:t>
            </a:r>
          </a:p>
          <a:p>
            <a:pPr marL="285750" indent="-285750"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Clr>
                <a:srgbClr val="B45309"/>
              </a:buClr>
              <a:buFont typeface="Arial"/>
              <a:buChar char="•"/>
            </a:pPr>
            <a:r>
              <a:rPr lang="tr-TR" sz="1000" dirty="0">
                <a:solidFill>
                  <a:srgbClr val="374151"/>
                </a:solidFill>
                <a:latin typeface="Calibri" pitchFamily="34" charset="0"/>
                <a:cs typeface="Calibri" pitchFamily="34" charset="0"/>
              </a:rPr>
              <a:t>IL-1β, IL-6 ve IL-8 PIM1 ekspresyonunu artırır; PIM1 inhibisyonu inflamatuar sitokin/kemokin üretimini azaltır.</a:t>
            </a:r>
          </a:p>
          <a:p>
            <a:pPr marL="285750" indent="-285750"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Clr>
                <a:srgbClr val="B45309"/>
              </a:buClr>
              <a:buFont typeface="Arial"/>
              <a:buChar char="•"/>
            </a:pPr>
            <a:r>
              <a:rPr lang="tr-TR" sz="1000" dirty="0">
                <a:solidFill>
                  <a:srgbClr val="374151"/>
                </a:solidFill>
                <a:latin typeface="Calibri" pitchFamily="34" charset="0"/>
                <a:cs typeface="Calibri" pitchFamily="34" charset="0"/>
              </a:rPr>
              <a:t>Farelerde miyoblast davranışını ve kas rejenerasyonunu pozitif yönde düzenler.</a:t>
            </a:r>
          </a:p>
        </p:txBody>
      </p:sp>
      <p:sp>
        <p:nvSpPr>
          <p:cNvPr id="16" name="PimNoteBg"/>
          <p:cNvSpPr/>
          <p:nvPr/>
        </p:nvSpPr>
        <p:spPr>
          <a:xfrm>
            <a:off x="421168" y="4210120"/>
            <a:ext cx="5229280" cy="140000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PimNoteTxt"/>
          <p:cNvSpPr txBox="1"/>
          <p:nvPr/>
        </p:nvSpPr>
        <p:spPr>
          <a:xfrm>
            <a:off x="521168" y="4210120"/>
            <a:ext cx="502928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00" b="1" dirty="0">
                <a:solidFill>
                  <a:srgbClr val="92400E"/>
                </a:solidFill>
                <a:latin typeface="Calibri" pitchFamily="34" charset="0"/>
                <a:cs typeface="Calibri" pitchFamily="34" charset="0"/>
              </a:rPr>
              <a:t>Çift Yönlü Rol: </a:t>
            </a:r>
            <a:r>
              <a:rPr lang="tr-TR" sz="1100" dirty="0">
                <a:solidFill>
                  <a:srgbClr val="78350F"/>
                </a:solidFill>
                <a:latin typeface="Calibri" pitchFamily="34" charset="0"/>
                <a:cs typeface="Calibri" pitchFamily="34" charset="0"/>
              </a:rPr>
              <a:t>Başlangıçta kas rejenerasyonuna yardımcı bir kurtarma yanıtı olabilir; ancak sürdürülen aktivite kronik inflamasyonu besleyip disfonksiyonu ağırlaştırabilir.</a:t>
            </a:r>
          </a:p>
        </p:txBody>
      </p:sp>
      <p:sp>
        <p:nvSpPr>
          <p:cNvPr id="18" name="MtBg"/>
          <p:cNvSpPr/>
          <p:nvPr/>
        </p:nvSpPr>
        <p:spPr>
          <a:xfrm>
            <a:off x="6071616" y="960120"/>
            <a:ext cx="5669280" cy="490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MtAccent"/>
          <p:cNvSpPr/>
          <p:nvPr/>
        </p:nvSpPr>
        <p:spPr>
          <a:xfrm>
            <a:off x="6071616" y="960120"/>
            <a:ext cx="54864" cy="49000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MtTitle"/>
          <p:cNvSpPr txBox="1"/>
          <p:nvPr/>
        </p:nvSpPr>
        <p:spPr>
          <a:xfrm>
            <a:off x="6291616" y="1070120"/>
            <a:ext cx="534928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700" b="1" dirty="0">
                <a:solidFill>
                  <a:srgbClr val="475569"/>
                </a:solidFill>
                <a:latin typeface="Calibri" pitchFamily="34" charset="0"/>
                <a:cs typeface="Calibri" pitchFamily="34" charset="0"/>
              </a:rPr>
              <a:t>🧪  MT-1E</a:t>
            </a:r>
            <a:r>
              <a:rPr lang="tr-TR" sz="1050" dirty="0">
                <a:solidFill>
                  <a:srgbClr val="64748B"/>
                </a:solidFill>
                <a:latin typeface="Calibri" pitchFamily="34" charset="0"/>
                <a:cs typeface="Calibri" pitchFamily="34" charset="0"/>
              </a:rPr>
              <a:t>   — Hipoksi Gen Seti, 2. Lider Gen</a:t>
            </a:r>
          </a:p>
        </p:txBody>
      </p:sp>
      <p:sp>
        <p:nvSpPr>
          <p:cNvPr id="21" name="MtDiv1"/>
          <p:cNvSpPr/>
          <p:nvPr/>
        </p:nvSpPr>
        <p:spPr>
          <a:xfrm>
            <a:off x="6291616" y="1570120"/>
            <a:ext cx="52292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tat2"/>
          <p:cNvSpPr txBox="1"/>
          <p:nvPr/>
        </p:nvSpPr>
        <p:spPr>
          <a:xfrm>
            <a:off x="6291616" y="1620120"/>
            <a:ext cx="522928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200" b="1" dirty="0">
                <a:solidFill>
                  <a:srgbClr val="475569"/>
                </a:solidFill>
                <a:latin typeface="Calibri" pitchFamily="34" charset="0"/>
                <a:cs typeface="Calibri" pitchFamily="34" charset="0"/>
              </a:rPr>
              <a:t>log₂FC = 2.359</a:t>
            </a:r>
          </a:p>
        </p:txBody>
      </p:sp>
      <p:sp>
        <p:nvSpPr>
          <p:cNvPr id="23" name="Stat2Lbl"/>
          <p:cNvSpPr txBox="1"/>
          <p:nvPr/>
        </p:nvSpPr>
        <p:spPr>
          <a:xfrm>
            <a:off x="6291616" y="2160120"/>
            <a:ext cx="522928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950" i="1" dirty="0">
                <a:solidFill>
                  <a:srgbClr val="64748B"/>
                </a:solidFill>
                <a:latin typeface="Calibri" pitchFamily="34" charset="0"/>
                <a:cs typeface="Calibri" pitchFamily="34" charset="0"/>
              </a:rPr>
              <a:t>padj = 1.78 × 10⁻¹²  ·  yalnızca RA + IFN-γ'da anlamlı</a:t>
            </a:r>
          </a:p>
        </p:txBody>
      </p:sp>
      <p:sp>
        <p:nvSpPr>
          <p:cNvPr id="24" name="MtRoles"/>
          <p:cNvSpPr txBox="1"/>
          <p:nvPr/>
        </p:nvSpPr>
        <p:spPr>
          <a:xfrm>
            <a:off x="6291616" y="2460120"/>
            <a:ext cx="522928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Clr>
                <a:srgbClr val="475569"/>
              </a:buClr>
              <a:buFont typeface="Arial"/>
              <a:buChar char="•"/>
            </a:pPr>
            <a:r>
              <a:rPr lang="tr-TR" sz="1000" dirty="0">
                <a:solidFill>
                  <a:srgbClr val="374151"/>
                </a:solidFill>
                <a:latin typeface="Calibri" pitchFamily="34" charset="0"/>
                <a:cs typeface="Calibri" pitchFamily="34" charset="0"/>
              </a:rPr>
              <a:t>Metalotionein ailesinden, hipoksi ve oksidatif strese yanıt veren bir MT-1 izoformudur.</a:t>
            </a:r>
          </a:p>
          <a:p>
            <a:pPr marL="285750" indent="-285750"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Clr>
                <a:srgbClr val="475569"/>
              </a:buClr>
              <a:buFont typeface="Arial"/>
              <a:buChar char="•"/>
            </a:pPr>
            <a:r>
              <a:rPr lang="tr-TR" sz="1000" dirty="0">
                <a:solidFill>
                  <a:srgbClr val="374151"/>
                </a:solidFill>
                <a:latin typeface="Calibri" pitchFamily="34" charset="0"/>
                <a:cs typeface="Calibri" pitchFamily="34" charset="0"/>
              </a:rPr>
              <a:t>Ağır metal bağlama ve serbest radikal nötralizasyonunda rol oynar.</a:t>
            </a:r>
          </a:p>
          <a:p>
            <a:pPr marL="285750" indent="-285750"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Clr>
                <a:srgbClr val="475569"/>
              </a:buClr>
              <a:buFont typeface="Arial"/>
              <a:buChar char="•"/>
            </a:pPr>
            <a:r>
              <a:rPr lang="tr-TR" sz="1000" dirty="0">
                <a:solidFill>
                  <a:srgbClr val="374151"/>
                </a:solidFill>
                <a:latin typeface="Calibri" pitchFamily="34" charset="0"/>
                <a:cs typeface="Calibri" pitchFamily="34" charset="0"/>
              </a:rPr>
              <a:t>Makalede biyolojik yorumu PIM1'e kıyasla daha sınırlı tutulmuştur.</a:t>
            </a:r>
          </a:p>
        </p:txBody>
      </p:sp>
      <p:sp>
        <p:nvSpPr>
          <p:cNvPr id="25" name="MtNoteBg"/>
          <p:cNvSpPr/>
          <p:nvPr/>
        </p:nvSpPr>
        <p:spPr>
          <a:xfrm>
            <a:off x="6291616" y="4210120"/>
            <a:ext cx="5229280" cy="140000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MtNoteTxt"/>
          <p:cNvSpPr txBox="1"/>
          <p:nvPr/>
        </p:nvSpPr>
        <p:spPr>
          <a:xfrm>
            <a:off x="6391616" y="4210120"/>
            <a:ext cx="502928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00" b="1" dirty="0">
                <a:solidFill>
                  <a:srgbClr val="B91C1C"/>
                </a:solidFill>
                <a:latin typeface="Calibri" pitchFamily="34" charset="0"/>
                <a:cs typeface="Calibri" pitchFamily="34" charset="0"/>
              </a:rPr>
              <a:t>Önemli Not: </a:t>
            </a:r>
            <a:r>
              <a:rPr lang="tr-TR" sz="1100" dirty="0">
                <a:solidFill>
                  <a:srgbClr val="7F1D1D"/>
                </a:solidFill>
                <a:latin typeface="Calibri" pitchFamily="34" charset="0"/>
                <a:cs typeface="Calibri" pitchFamily="34" charset="0"/>
              </a:rPr>
              <a:t>Western blot ile (1:100 dilüsyonda) protein düzeyinde tespit edilememiştir — RNA-seq ile protein doğrulaması arasındaki tutarsızlığın bir örneğidir.</a:t>
            </a:r>
          </a:p>
        </p:txBody>
      </p:sp>
      <p:sp>
        <p:nvSpPr>
          <p:cNvPr id="27" name="MsgBar"/>
          <p:cNvSpPr/>
          <p:nvPr/>
        </p:nvSpPr>
        <p:spPr>
          <a:xfrm>
            <a:off x="201168" y="5989320"/>
            <a:ext cx="11789664" cy="6126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MsgLabel"/>
          <p:cNvSpPr txBox="1"/>
          <p:nvPr/>
        </p:nvSpPr>
        <p:spPr>
          <a:xfrm>
            <a:off x="384048" y="6044568"/>
            <a:ext cx="2926080" cy="50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00" b="1" dirty="0">
                <a:solidFill>
                  <a:srgbClr val="7DD3FC"/>
                </a:solidFill>
                <a:latin typeface="Calibri" pitchFamily="34" charset="0"/>
                <a:cs typeface="Calibri" pitchFamily="34" charset="0"/>
              </a:rPr>
              <a:t>🔑  Ana Mesaj:</a:t>
            </a:r>
          </a:p>
        </p:txBody>
      </p:sp>
      <p:sp>
        <p:nvSpPr>
          <p:cNvPr id="29" name="MsgText"/>
          <p:cNvSpPr txBox="1"/>
          <p:nvPr/>
        </p:nvSpPr>
        <p:spPr>
          <a:xfrm>
            <a:off x="3383280" y="6044568"/>
            <a:ext cx="8229600" cy="50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05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PIM1, RA miyobundllarına özgü hipoksi yanıtının güçlü bir terapötik hedef adayı; IFN-γ ile artan PIM1 protein düzeyi Tofacitinib tedavisiyle baseline'a yakın değerlere geri dönmütür.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54864" cy="66019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itle"/>
          <p:cNvSpPr txBox="1"/>
          <p:nvPr/>
        </p:nvSpPr>
        <p:spPr>
          <a:xfrm>
            <a:off x="201168" y="109728"/>
            <a:ext cx="1186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600" b="1" dirty="0">
                <a:solidFill>
                  <a:srgbClr val="0F2D52"/>
                </a:solidFill>
                <a:latin typeface="Calibri" pitchFamily="34" charset="0"/>
                <a:cs typeface="Calibri" pitchFamily="34" charset="0"/>
              </a:rPr>
              <a:t>IFN-γ'dan Kas Disfonksiyonuna Giden Yol</a:t>
            </a:r>
          </a:p>
        </p:txBody>
      </p:sp>
      <p:sp>
        <p:nvSpPr>
          <p:cNvPr id="4" name="Sub"/>
          <p:cNvSpPr txBox="1"/>
          <p:nvPr/>
        </p:nvSpPr>
        <p:spPr>
          <a:xfrm>
            <a:off x="201168" y="566928"/>
            <a:ext cx="1186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i="1" dirty="0">
                <a:solidFill>
                  <a:srgbClr val="64748B"/>
                </a:solidFill>
                <a:latin typeface="Calibri" pitchFamily="34" charset="0"/>
                <a:cs typeface="Calibri" pitchFamily="34" charset="0"/>
              </a:rPr>
              <a:t>Moleküler Değişimden Fonksiyonel Sonuça — Sinyal Kaskadı</a:t>
            </a:r>
          </a:p>
        </p:txBody>
      </p:sp>
      <p:sp>
        <p:nvSpPr>
          <p:cNvPr id="5" name="Div"/>
          <p:cNvSpPr/>
          <p:nvPr/>
        </p:nvSpPr>
        <p:spPr>
          <a:xfrm>
            <a:off x="201168" y="822960"/>
            <a:ext cx="11868912" cy="2286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BottomBar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FooterText"/>
          <p:cNvSpPr txBox="1"/>
          <p:nvPr/>
        </p:nvSpPr>
        <p:spPr>
          <a:xfrm>
            <a:off x="274320" y="662025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Nazar ERBAŞ  ·  220125105033  ·  Romatoid Artritte İskelet Kasının Moleküler Analizi  ·  Oliver et al. Communications Biology 2025</a:t>
            </a:r>
          </a:p>
        </p:txBody>
      </p:sp>
      <p:sp>
        <p:nvSpPr>
          <p:cNvPr id="8" name="PageNum"/>
          <p:cNvSpPr txBox="1"/>
          <p:nvPr/>
        </p:nvSpPr>
        <p:spPr>
          <a:xfrm>
            <a:off x="11777472" y="66202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9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20</a:t>
            </a:r>
          </a:p>
        </p:txBody>
      </p:sp>
      <p:sp>
        <p:nvSpPr>
          <p:cNvPr id="9" name="Boxr1_0Bg"/>
          <p:cNvSpPr/>
          <p:nvPr/>
        </p:nvSpPr>
        <p:spPr>
          <a:xfrm>
            <a:off x="201168" y="1150000"/>
            <a:ext cx="2350000" cy="115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Boxr1_0Top"/>
          <p:cNvSpPr/>
          <p:nvPr/>
        </p:nvSpPr>
        <p:spPr>
          <a:xfrm>
            <a:off x="201168" y="1150000"/>
            <a:ext cx="2350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Boxr1_0Txt"/>
          <p:cNvSpPr txBox="1"/>
          <p:nvPr/>
        </p:nvSpPr>
        <p:spPr>
          <a:xfrm>
            <a:off x="241168" y="1195720"/>
            <a:ext cx="2270000" cy="1104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50" b="1" dirty="0">
                <a:solidFill>
                  <a:srgbClr val="2563EB"/>
                </a:solidFill>
                <a:latin typeface="Calibri" pitchFamily="34" charset="0"/>
                <a:cs typeface="Calibri" pitchFamily="34" charset="0"/>
              </a:rPr>
              <a:t>IFN-γ</a:t>
            </a:r>
          </a:p>
        </p:txBody>
      </p:sp>
      <p:sp>
        <p:nvSpPr>
          <p:cNvPr id="12" name="Boxr1_1Bg"/>
          <p:cNvSpPr/>
          <p:nvPr/>
        </p:nvSpPr>
        <p:spPr>
          <a:xfrm>
            <a:off x="3371168" y="1150000"/>
            <a:ext cx="2350000" cy="115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Boxr1_1Top"/>
          <p:cNvSpPr/>
          <p:nvPr/>
        </p:nvSpPr>
        <p:spPr>
          <a:xfrm>
            <a:off x="3371168" y="1150000"/>
            <a:ext cx="2350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Boxr1_1Txt"/>
          <p:cNvSpPr txBox="1"/>
          <p:nvPr/>
        </p:nvSpPr>
        <p:spPr>
          <a:xfrm>
            <a:off x="3411168" y="1195720"/>
            <a:ext cx="2270000" cy="1104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tr-TR" sz="1150" b="1" dirty="0">
                <a:solidFill>
                  <a:srgbClr val="2563EB"/>
                </a:solidFill>
                <a:latin typeface="Calibri" pitchFamily="34" charset="0"/>
                <a:cs typeface="Calibri" pitchFamily="34" charset="0"/>
              </a:rPr>
              <a:t>JAK1 / JAK2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900" dirty="0">
                <a:solidFill>
                  <a:srgbClr val="475569"/>
                </a:solidFill>
                <a:latin typeface="Calibri" pitchFamily="34" charset="0"/>
                <a:cs typeface="Calibri" pitchFamily="34" charset="0"/>
              </a:rPr>
              <a:t>Fosforilasyon</a:t>
            </a:r>
          </a:p>
        </p:txBody>
      </p:sp>
      <p:sp>
        <p:nvSpPr>
          <p:cNvPr id="15" name="Boxr1_2Bg"/>
          <p:cNvSpPr/>
          <p:nvPr/>
        </p:nvSpPr>
        <p:spPr>
          <a:xfrm>
            <a:off x="6541168" y="1150000"/>
            <a:ext cx="2350000" cy="115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Boxr1_2Top"/>
          <p:cNvSpPr/>
          <p:nvPr/>
        </p:nvSpPr>
        <p:spPr>
          <a:xfrm>
            <a:off x="6541168" y="1150000"/>
            <a:ext cx="2350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Boxr1_2Txt"/>
          <p:cNvSpPr txBox="1"/>
          <p:nvPr/>
        </p:nvSpPr>
        <p:spPr>
          <a:xfrm>
            <a:off x="6581168" y="1195720"/>
            <a:ext cx="2270000" cy="1104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50" b="1" dirty="0">
                <a:solidFill>
                  <a:srgbClr val="2563EB"/>
                </a:solidFill>
                <a:latin typeface="Calibri" pitchFamily="34" charset="0"/>
                <a:cs typeface="Calibri" pitchFamily="34" charset="0"/>
              </a:rPr>
              <a:t>STAT1 Aktivasyonu</a:t>
            </a:r>
          </a:p>
        </p:txBody>
      </p:sp>
      <p:sp>
        <p:nvSpPr>
          <p:cNvPr id="18" name="Boxr1_3Bg"/>
          <p:cNvSpPr/>
          <p:nvPr/>
        </p:nvSpPr>
        <p:spPr>
          <a:xfrm>
            <a:off x="9711168" y="1150000"/>
            <a:ext cx="2350000" cy="115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Boxr1_3Top"/>
          <p:cNvSpPr/>
          <p:nvPr/>
        </p:nvSpPr>
        <p:spPr>
          <a:xfrm>
            <a:off x="9711168" y="1150000"/>
            <a:ext cx="2350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Boxr1_3Txt"/>
          <p:cNvSpPr txBox="1"/>
          <p:nvPr/>
        </p:nvSpPr>
        <p:spPr>
          <a:xfrm>
            <a:off x="9751168" y="1195720"/>
            <a:ext cx="2270000" cy="1104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tr-TR" sz="1150" b="1" dirty="0">
                <a:solidFill>
                  <a:srgbClr val="2563EB"/>
                </a:solidFill>
                <a:latin typeface="Calibri" pitchFamily="34" charset="0"/>
                <a:cs typeface="Calibri" pitchFamily="34" charset="0"/>
              </a:rPr>
              <a:t>IRF1 Aktivasyonu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900" dirty="0">
                <a:solidFill>
                  <a:srgbClr val="475569"/>
                </a:solidFill>
                <a:latin typeface="Calibri" pitchFamily="34" charset="0"/>
                <a:cs typeface="Calibri" pitchFamily="34" charset="0"/>
              </a:rPr>
              <a:t>Transkripsiyon faktörü</a:t>
            </a:r>
          </a:p>
        </p:txBody>
      </p:sp>
      <p:sp>
        <p:nvSpPr>
          <p:cNvPr id="21" name="ArrowR1"/>
          <p:cNvSpPr/>
          <p:nvPr/>
        </p:nvSpPr>
        <p:spPr>
          <a:xfrm>
            <a:off x="2551168" y="1565000"/>
            <a:ext cx="820000" cy="32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22" name="ArrowR1"/>
          <p:cNvSpPr/>
          <p:nvPr/>
        </p:nvSpPr>
        <p:spPr>
          <a:xfrm>
            <a:off x="5721168" y="1565000"/>
            <a:ext cx="820000" cy="32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23" name="ArrowR1"/>
          <p:cNvSpPr/>
          <p:nvPr/>
        </p:nvSpPr>
        <p:spPr>
          <a:xfrm>
            <a:off x="8891168" y="1565000"/>
            <a:ext cx="820000" cy="32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24" name="DownConnector"/>
          <p:cNvSpPr/>
          <p:nvPr/>
        </p:nvSpPr>
        <p:spPr>
          <a:xfrm>
            <a:off x="5625000" y="2360000"/>
            <a:ext cx="320000" cy="7000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25" name="Boxr2_0Bg"/>
          <p:cNvSpPr/>
          <p:nvPr/>
        </p:nvSpPr>
        <p:spPr>
          <a:xfrm>
            <a:off x="201168" y="3120000"/>
            <a:ext cx="2350000" cy="230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Boxr2_0Top"/>
          <p:cNvSpPr/>
          <p:nvPr/>
        </p:nvSpPr>
        <p:spPr>
          <a:xfrm>
            <a:off x="201168" y="3120000"/>
            <a:ext cx="2350000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Boxr2_0Txt"/>
          <p:cNvSpPr txBox="1"/>
          <p:nvPr/>
        </p:nvSpPr>
        <p:spPr>
          <a:xfrm>
            <a:off x="241168" y="3165720"/>
            <a:ext cx="2270000" cy="2254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tr-TR" sz="1150" b="1" dirty="0">
                <a:solidFill>
                  <a:srgbClr val="B91C1C"/>
                </a:solidFill>
                <a:latin typeface="Calibri" pitchFamily="34" charset="0"/>
                <a:cs typeface="Calibri" pitchFamily="34" charset="0"/>
              </a:rPr>
              <a:t>İnflamatuvar Genler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900" dirty="0">
                <a:solidFill>
                  <a:srgbClr val="475569"/>
                </a:solidFill>
                <a:latin typeface="Calibri" pitchFamily="34" charset="0"/>
                <a:cs typeface="Calibri" pitchFamily="34" charset="0"/>
              </a:rPr>
              <a:t>CIITA · HLA-DRA · GBP4</a:t>
            </a:r>
          </a:p>
        </p:txBody>
      </p:sp>
      <p:sp>
        <p:nvSpPr>
          <p:cNvPr id="28" name="Boxr2_1Bg"/>
          <p:cNvSpPr/>
          <p:nvPr/>
        </p:nvSpPr>
        <p:spPr>
          <a:xfrm>
            <a:off x="3371168" y="3120000"/>
            <a:ext cx="2350000" cy="230000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Boxr2_1Top"/>
          <p:cNvSpPr/>
          <p:nvPr/>
        </p:nvSpPr>
        <p:spPr>
          <a:xfrm>
            <a:off x="3371168" y="3120000"/>
            <a:ext cx="2350000" cy="45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Boxr2_1Txt"/>
          <p:cNvSpPr txBox="1"/>
          <p:nvPr/>
        </p:nvSpPr>
        <p:spPr>
          <a:xfrm>
            <a:off x="3411168" y="3165720"/>
            <a:ext cx="2270000" cy="2254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tr-TR" sz="1150" b="1" dirty="0">
                <a:solidFill>
                  <a:srgbClr val="B45309"/>
                </a:solidFill>
                <a:latin typeface="Calibri" pitchFamily="34" charset="0"/>
                <a:cs typeface="Calibri" pitchFamily="34" charset="0"/>
              </a:rPr>
              <a:t>Hücresel Stres Yanıtları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900" dirty="0">
                <a:solidFill>
                  <a:srgbClr val="475569"/>
                </a:solidFill>
                <a:latin typeface="Calibri" pitchFamily="34" charset="0"/>
                <a:cs typeface="Calibri" pitchFamily="34" charset="0"/>
              </a:rPr>
              <a:t>Hypoxia · MTORC1 · UPR</a:t>
            </a:r>
          </a:p>
        </p:txBody>
      </p:sp>
      <p:sp>
        <p:nvSpPr>
          <p:cNvPr id="31" name="Boxr2_2Bg"/>
          <p:cNvSpPr/>
          <p:nvPr/>
        </p:nvSpPr>
        <p:spPr>
          <a:xfrm>
            <a:off x="6541168" y="3120000"/>
            <a:ext cx="2350000" cy="2300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Boxr2_2Top"/>
          <p:cNvSpPr/>
          <p:nvPr/>
        </p:nvSpPr>
        <p:spPr>
          <a:xfrm>
            <a:off x="6541168" y="3120000"/>
            <a:ext cx="2350000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Boxr2_2Txt"/>
          <p:cNvSpPr txBox="1"/>
          <p:nvPr/>
        </p:nvSpPr>
        <p:spPr>
          <a:xfrm>
            <a:off x="6581168" y="3165720"/>
            <a:ext cx="2270000" cy="2254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tr-TR" sz="1150" b="1" dirty="0">
                <a:solidFill>
                  <a:srgbClr val="B91C1C"/>
                </a:solidFill>
                <a:latin typeface="Calibri" pitchFamily="34" charset="0"/>
                <a:cs typeface="Calibri" pitchFamily="34" charset="0"/>
              </a:rPr>
              <a:t>Kas Proteinleri ↓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900" dirty="0">
                <a:solidFill>
                  <a:srgbClr val="475569"/>
                </a:solidFill>
                <a:latin typeface="Calibri" pitchFamily="34" charset="0"/>
                <a:cs typeface="Calibri" pitchFamily="34" charset="0"/>
              </a:rPr>
              <a:t>MYL5 vb.</a:t>
            </a:r>
          </a:p>
        </p:txBody>
      </p:sp>
      <p:sp>
        <p:nvSpPr>
          <p:cNvPr id="34" name="Boxr2_3Bg"/>
          <p:cNvSpPr/>
          <p:nvPr/>
        </p:nvSpPr>
        <p:spPr>
          <a:xfrm>
            <a:off x="9711168" y="3120000"/>
            <a:ext cx="2350000" cy="23000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Boxr2_3Top"/>
          <p:cNvSpPr/>
          <p:nvPr/>
        </p:nvSpPr>
        <p:spPr>
          <a:xfrm>
            <a:off x="9711168" y="3120000"/>
            <a:ext cx="2350000" cy="45720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Boxr2_3Txt"/>
          <p:cNvSpPr txBox="1"/>
          <p:nvPr/>
        </p:nvSpPr>
        <p:spPr>
          <a:xfrm>
            <a:off x="9751168" y="3165720"/>
            <a:ext cx="2270000" cy="2254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tr-TR" sz="115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Kas Kuvvetinde Azalma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900" dirty="0">
                <a:solidFill>
                  <a:srgbClr val="CBD5E1"/>
                </a:solidFill>
                <a:latin typeface="Calibri" pitchFamily="34" charset="0"/>
                <a:cs typeface="Calibri" pitchFamily="34" charset="0"/>
              </a:rPr>
              <a:t>Fonksiyonel Sonuç</a:t>
            </a:r>
          </a:p>
        </p:txBody>
      </p:sp>
      <p:sp>
        <p:nvSpPr>
          <p:cNvPr id="37" name="ArrowR2"/>
          <p:cNvSpPr/>
          <p:nvPr/>
        </p:nvSpPr>
        <p:spPr>
          <a:xfrm>
            <a:off x="2551168" y="4110000"/>
            <a:ext cx="820000" cy="32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38" name="ArrowR2"/>
          <p:cNvSpPr/>
          <p:nvPr/>
        </p:nvSpPr>
        <p:spPr>
          <a:xfrm>
            <a:off x="5721168" y="4110000"/>
            <a:ext cx="820000" cy="32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39" name="ArrowR2"/>
          <p:cNvSpPr/>
          <p:nvPr/>
        </p:nvSpPr>
        <p:spPr>
          <a:xfrm>
            <a:off x="8891168" y="4110000"/>
            <a:ext cx="820000" cy="32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40" name="MsgBar"/>
          <p:cNvSpPr/>
          <p:nvPr/>
        </p:nvSpPr>
        <p:spPr>
          <a:xfrm>
            <a:off x="201168" y="5989320"/>
            <a:ext cx="11789664" cy="6126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1" name="MsgLabel"/>
          <p:cNvSpPr txBox="1"/>
          <p:nvPr/>
        </p:nvSpPr>
        <p:spPr>
          <a:xfrm>
            <a:off x="384048" y="6044568"/>
            <a:ext cx="2926080" cy="50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00" b="1" dirty="0">
                <a:solidFill>
                  <a:srgbClr val="7DD3FC"/>
                </a:solidFill>
                <a:latin typeface="Calibri" pitchFamily="34" charset="0"/>
                <a:cs typeface="Calibri" pitchFamily="34" charset="0"/>
              </a:rPr>
              <a:t>🔑  Ana Mesaj:</a:t>
            </a:r>
          </a:p>
        </p:txBody>
      </p:sp>
      <p:sp>
        <p:nvSpPr>
          <p:cNvPr id="42" name="MsgText"/>
          <p:cNvSpPr txBox="1"/>
          <p:nvPr/>
        </p:nvSpPr>
        <p:spPr>
          <a:xfrm>
            <a:off x="3383280" y="6044568"/>
            <a:ext cx="8229600" cy="50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05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IFN-γ yalnızca gen ekspresyonunu değiştirmez; kas hücresinin biyolojik kimliğini yeniden programlayarak fonksiyon kaybına neden olur.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54864" cy="66019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itle"/>
          <p:cNvSpPr txBox="1"/>
          <p:nvPr/>
        </p:nvSpPr>
        <p:spPr>
          <a:xfrm>
            <a:off x="201168" y="109728"/>
            <a:ext cx="1186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600" b="1" dirty="0">
                <a:solidFill>
                  <a:srgbClr val="0F2D52"/>
                </a:solidFill>
                <a:latin typeface="Calibri" pitchFamily="34" charset="0"/>
                <a:cs typeface="Calibri" pitchFamily="34" charset="0"/>
              </a:rPr>
              <a:t>Tofacitinib Neden Önemli?</a:t>
            </a:r>
          </a:p>
        </p:txBody>
      </p:sp>
      <p:sp>
        <p:nvSpPr>
          <p:cNvPr id="4" name="Sub"/>
          <p:cNvSpPr txBox="1"/>
          <p:nvPr/>
        </p:nvSpPr>
        <p:spPr>
          <a:xfrm>
            <a:off x="201168" y="566928"/>
            <a:ext cx="1186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i="1" dirty="0">
                <a:solidFill>
                  <a:srgbClr val="64748B"/>
                </a:solidFill>
                <a:latin typeface="Calibri" pitchFamily="34" charset="0"/>
                <a:cs typeface="Calibri" pitchFamily="34" charset="0"/>
              </a:rPr>
              <a:t>JAK İnhibisyonu ve Terapötik Potansiyel — Moleküler Bulgudan Tedavi Hedefine</a:t>
            </a:r>
          </a:p>
        </p:txBody>
      </p:sp>
      <p:sp>
        <p:nvSpPr>
          <p:cNvPr id="5" name="Div"/>
          <p:cNvSpPr/>
          <p:nvPr/>
        </p:nvSpPr>
        <p:spPr>
          <a:xfrm>
            <a:off x="201168" y="822960"/>
            <a:ext cx="11868912" cy="2286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BottomBar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FooterText"/>
          <p:cNvSpPr txBox="1"/>
          <p:nvPr/>
        </p:nvSpPr>
        <p:spPr>
          <a:xfrm>
            <a:off x="274320" y="662025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Nazar ERBAŞ  ·  220125105033  ·  Romatoid Artritte İskelet Kasının Moleküler Analizi  ·  Oliver et al. Communications Biology 2025</a:t>
            </a:r>
          </a:p>
        </p:txBody>
      </p:sp>
      <p:sp>
        <p:nvSpPr>
          <p:cNvPr id="8" name="PageNum"/>
          <p:cNvSpPr txBox="1"/>
          <p:nvPr/>
        </p:nvSpPr>
        <p:spPr>
          <a:xfrm>
            <a:off x="11777472" y="66202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9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21</a:t>
            </a:r>
          </a:p>
        </p:txBody>
      </p:sp>
      <p:sp>
        <p:nvSpPr>
          <p:cNvPr id="9" name="LCardBg"/>
          <p:cNvSpPr/>
          <p:nvPr/>
        </p:nvSpPr>
        <p:spPr>
          <a:xfrm>
            <a:off x="201168" y="960120"/>
            <a:ext cx="5669280" cy="4900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LCardAccent"/>
          <p:cNvSpPr/>
          <p:nvPr/>
        </p:nvSpPr>
        <p:spPr>
          <a:xfrm>
            <a:off x="201168" y="960120"/>
            <a:ext cx="54864" cy="49000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LCardTitle"/>
          <p:cNvSpPr txBox="1"/>
          <p:nvPr/>
        </p:nvSpPr>
        <p:spPr>
          <a:xfrm>
            <a:off x="421168" y="1100120"/>
            <a:ext cx="534928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1" dirty="0">
                <a:solidFill>
                  <a:srgbClr val="B91C1C"/>
                </a:solidFill>
                <a:latin typeface="Calibri" pitchFamily="34" charset="0"/>
                <a:cs typeface="Calibri" pitchFamily="34" charset="0"/>
              </a:rPr>
              <a:t>⚠️  IFN-γ Sinyalizasyonu</a:t>
            </a:r>
          </a:p>
        </p:txBody>
      </p:sp>
      <p:sp>
        <p:nvSpPr>
          <p:cNvPr id="12" name="LCardDiv"/>
          <p:cNvSpPr/>
          <p:nvPr/>
        </p:nvSpPr>
        <p:spPr>
          <a:xfrm>
            <a:off x="421168" y="1620120"/>
            <a:ext cx="5229280" cy="22860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LCardSteps"/>
          <p:cNvSpPr txBox="1"/>
          <p:nvPr/>
        </p:nvSpPr>
        <p:spPr>
          <a:xfrm>
            <a:off x="421168" y="1760120"/>
            <a:ext cx="5229280" cy="3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50" b="1" dirty="0">
                <a:solidFill>
                  <a:srgbClr val="7F1D1D"/>
                </a:solidFill>
                <a:latin typeface="Calibri" pitchFamily="34" charset="0"/>
                <a:cs typeface="Calibri" pitchFamily="34" charset="0"/>
              </a:rPr>
              <a:t>IFN-γ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00" dirty="0">
                <a:solidFill>
                  <a:srgbClr val="DC2626"/>
                </a:solidFill>
                <a:latin typeface="Calibri" pitchFamily="34" charset="0"/>
                <a:cs typeface="Calibri" pitchFamily="34" charset="0"/>
              </a:rPr>
              <a:t>↓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50" b="1" dirty="0">
                <a:solidFill>
                  <a:srgbClr val="7F1D1D"/>
                </a:solidFill>
                <a:latin typeface="Calibri" pitchFamily="34" charset="0"/>
                <a:cs typeface="Calibri" pitchFamily="34" charset="0"/>
              </a:rPr>
              <a:t>JAK1 / JAK2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00" dirty="0">
                <a:solidFill>
                  <a:srgbClr val="DC2626"/>
                </a:solidFill>
                <a:latin typeface="Calibri" pitchFamily="34" charset="0"/>
                <a:cs typeface="Calibri" pitchFamily="34" charset="0"/>
              </a:rPr>
              <a:t>↓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50" b="1" dirty="0">
                <a:solidFill>
                  <a:srgbClr val="7F1D1D"/>
                </a:solidFill>
                <a:latin typeface="Calibri" pitchFamily="34" charset="0"/>
                <a:cs typeface="Calibri" pitchFamily="34" charset="0"/>
              </a:rPr>
              <a:t>STAT1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00" dirty="0">
                <a:solidFill>
                  <a:srgbClr val="DC2626"/>
                </a:solidFill>
                <a:latin typeface="Calibri" pitchFamily="34" charset="0"/>
                <a:cs typeface="Calibri" pitchFamily="34" charset="0"/>
              </a:rPr>
              <a:t>↓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50" b="1" dirty="0">
                <a:solidFill>
                  <a:srgbClr val="7F1D1D"/>
                </a:solidFill>
                <a:latin typeface="Calibri" pitchFamily="34" charset="0"/>
                <a:cs typeface="Calibri" pitchFamily="34" charset="0"/>
              </a:rPr>
              <a:t>İnflamasyon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00" dirty="0">
                <a:solidFill>
                  <a:srgbClr val="DC2626"/>
                </a:solidFill>
                <a:latin typeface="Calibri" pitchFamily="34" charset="0"/>
                <a:cs typeface="Calibri" pitchFamily="34" charset="0"/>
              </a:rPr>
              <a:t>↓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50" b="1" dirty="0">
                <a:solidFill>
                  <a:srgbClr val="B91C1C"/>
                </a:solidFill>
                <a:latin typeface="Calibri" pitchFamily="34" charset="0"/>
                <a:cs typeface="Calibri" pitchFamily="34" charset="0"/>
              </a:rPr>
              <a:t>Kas Disfonksiyonu</a:t>
            </a:r>
          </a:p>
        </p:txBody>
      </p:sp>
      <p:sp>
        <p:nvSpPr>
          <p:cNvPr id="14" name="RCardBg"/>
          <p:cNvSpPr/>
          <p:nvPr/>
        </p:nvSpPr>
        <p:spPr>
          <a:xfrm>
            <a:off x="6071616" y="960120"/>
            <a:ext cx="5669280" cy="49000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RCardAccent"/>
          <p:cNvSpPr/>
          <p:nvPr/>
        </p:nvSpPr>
        <p:spPr>
          <a:xfrm>
            <a:off x="6071616" y="960120"/>
            <a:ext cx="54864" cy="4900000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RCardTitle"/>
          <p:cNvSpPr txBox="1"/>
          <p:nvPr/>
        </p:nvSpPr>
        <p:spPr>
          <a:xfrm>
            <a:off x="6291616" y="1100120"/>
            <a:ext cx="534928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 b="1" dirty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💊  Tofacitinib Etkisi</a:t>
            </a:r>
          </a:p>
        </p:txBody>
      </p:sp>
      <p:sp>
        <p:nvSpPr>
          <p:cNvPr id="17" name="RCardDiv"/>
          <p:cNvSpPr/>
          <p:nvPr/>
        </p:nvSpPr>
        <p:spPr>
          <a:xfrm>
            <a:off x="6291616" y="1620120"/>
            <a:ext cx="5229280" cy="22860"/>
          </a:xfrm>
          <a:prstGeom prst="rect">
            <a:avLst/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RCardBody"/>
          <p:cNvSpPr txBox="1"/>
          <p:nvPr/>
        </p:nvSpPr>
        <p:spPr>
          <a:xfrm>
            <a:off x="6291616" y="1760120"/>
            <a:ext cx="5229280" cy="2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tr-TR" sz="1450" b="1" dirty="0">
                <a:solidFill>
                  <a:srgbClr val="166534"/>
                </a:solidFill>
                <a:latin typeface="Calibri" pitchFamily="34" charset="0"/>
                <a:cs typeface="Calibri" pitchFamily="34" charset="0"/>
              </a:rPr>
              <a:t>Bir JAK inhibitörüdür.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r-TR" sz="1300" b="1" dirty="0">
                <a:solidFill>
                  <a:srgbClr val="166534"/>
                </a:solidFill>
                <a:latin typeface="Calibri" pitchFamily="34" charset="0"/>
                <a:cs typeface="Calibri" pitchFamily="34" charset="0"/>
              </a:rPr>
              <a:t>Bu çalışmada: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Clr>
                <a:srgbClr val="00B050"/>
              </a:buClr>
              <a:buFont typeface="Arial"/>
              <a:buChar char="•"/>
            </a:pPr>
            <a:r>
              <a:rPr lang="tr-TR" sz="1300" dirty="0">
                <a:solidFill>
                  <a:srgbClr val="374151"/>
                </a:solidFill>
                <a:latin typeface="Calibri" pitchFamily="34" charset="0"/>
                <a:cs typeface="Calibri" pitchFamily="34" charset="0"/>
              </a:rPr>
              <a:t>IFN-γ kaynaklı sinyalizasyonu baskılamıştır.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Clr>
                <a:srgbClr val="00B050"/>
              </a:buClr>
              <a:buFont typeface="Arial"/>
              <a:buChar char="•"/>
            </a:pPr>
            <a:r>
              <a:rPr lang="tr-TR" sz="1300" dirty="0">
                <a:solidFill>
                  <a:srgbClr val="374151"/>
                </a:solidFill>
                <a:latin typeface="Calibri" pitchFamily="34" charset="0"/>
                <a:cs typeface="Calibri" pitchFamily="34" charset="0"/>
              </a:rPr>
              <a:t>Kas fonksiyonunda iyileşme sağlamıştır.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Clr>
                <a:srgbClr val="00B050"/>
              </a:buClr>
              <a:buFont typeface="Arial"/>
              <a:buChar char="•"/>
            </a:pPr>
            <a:r>
              <a:rPr lang="tr-TR" sz="1300" dirty="0">
                <a:solidFill>
                  <a:srgbClr val="374151"/>
                </a:solidFill>
                <a:latin typeface="Calibri" pitchFamily="34" charset="0"/>
                <a:cs typeface="Calibri" pitchFamily="34" charset="0"/>
              </a:rPr>
              <a:t>Moleküler bulguların fonksiyonel önemini doğrulamıştır.</a:t>
            </a:r>
          </a:p>
        </p:txBody>
      </p:sp>
      <p:sp>
        <p:nvSpPr>
          <p:cNvPr id="19" name="RCardResultBg"/>
          <p:cNvSpPr/>
          <p:nvPr/>
        </p:nvSpPr>
        <p:spPr>
          <a:xfrm>
            <a:off x="6291616" y="4810120"/>
            <a:ext cx="5229280" cy="80000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RCardResultTxt"/>
          <p:cNvSpPr txBox="1"/>
          <p:nvPr/>
        </p:nvSpPr>
        <p:spPr>
          <a:xfrm>
            <a:off x="6391616" y="4810120"/>
            <a:ext cx="502928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 dirty="0">
                <a:solidFill>
                  <a:srgbClr val="166534"/>
                </a:solidFill>
                <a:latin typeface="Calibri" pitchFamily="34" charset="0"/>
                <a:cs typeface="Calibri" pitchFamily="34" charset="0"/>
              </a:rPr>
              <a:t>Sonuç: </a:t>
            </a:r>
            <a:r>
              <a:rPr lang="tr-TR" sz="1150" dirty="0">
                <a:solidFill>
                  <a:srgbClr val="166534"/>
                </a:solidFill>
                <a:latin typeface="Calibri" pitchFamily="34" charset="0"/>
                <a:cs typeface="Calibri" pitchFamily="34" charset="0"/>
              </a:rPr>
              <a:t>Kas fonksiyonu kısmen geri kazanılmış, IFN-γ sinyal kaskadı baştan sona baskılanmıştır.</a:t>
            </a:r>
          </a:p>
        </p:txBody>
      </p:sp>
      <p:sp>
        <p:nvSpPr>
          <p:cNvPr id="21" name="MsgBar"/>
          <p:cNvSpPr/>
          <p:nvPr/>
        </p:nvSpPr>
        <p:spPr>
          <a:xfrm>
            <a:off x="201168" y="5989320"/>
            <a:ext cx="11789664" cy="6126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MsgLabel"/>
          <p:cNvSpPr txBox="1"/>
          <p:nvPr/>
        </p:nvSpPr>
        <p:spPr>
          <a:xfrm>
            <a:off x="384048" y="6044568"/>
            <a:ext cx="2926080" cy="50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00" b="1" dirty="0">
                <a:solidFill>
                  <a:srgbClr val="7DD3FC"/>
                </a:solidFill>
                <a:latin typeface="Calibri" pitchFamily="34" charset="0"/>
                <a:cs typeface="Calibri" pitchFamily="34" charset="0"/>
              </a:rPr>
              <a:t>🔑  Translasyonel Mesaj:</a:t>
            </a:r>
          </a:p>
        </p:txBody>
      </p:sp>
      <p:sp>
        <p:nvSpPr>
          <p:cNvPr id="23" name="MsgText"/>
          <p:cNvSpPr txBox="1"/>
          <p:nvPr/>
        </p:nvSpPr>
        <p:spPr>
          <a:xfrm>
            <a:off x="3383280" y="6044568"/>
            <a:ext cx="8229600" cy="50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05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IFN-γ/JAK/STAT ekseni, RA'da kas kaybı ve kas disfonksiyonu için potansiyel bir tedavi hedefidir.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54864" cy="66019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itle"/>
          <p:cNvSpPr txBox="1"/>
          <p:nvPr/>
        </p:nvSpPr>
        <p:spPr>
          <a:xfrm>
            <a:off x="201168" y="109728"/>
            <a:ext cx="1186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600" b="1" dirty="0">
                <a:solidFill>
                  <a:srgbClr val="0F2D52"/>
                </a:solidFill>
                <a:latin typeface="Calibri" pitchFamily="34" charset="0"/>
                <a:cs typeface="Calibri" pitchFamily="34" charset="0"/>
              </a:rPr>
              <a:t>Bu Çalışmayı Sıfırdan Tasarlasaydık</a:t>
            </a:r>
          </a:p>
        </p:txBody>
      </p:sp>
      <p:sp>
        <p:nvSpPr>
          <p:cNvPr id="4" name="Sub"/>
          <p:cNvSpPr txBox="1"/>
          <p:nvPr/>
        </p:nvSpPr>
        <p:spPr>
          <a:xfrm>
            <a:off x="201168" y="566928"/>
            <a:ext cx="1186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i="1" dirty="0">
                <a:solidFill>
                  <a:srgbClr val="64748B"/>
                </a:solidFill>
                <a:latin typeface="Calibri" pitchFamily="34" charset="0"/>
                <a:cs typeface="Calibri" pitchFamily="34" charset="0"/>
              </a:rPr>
              <a:t>Makalenin kendi belirttiği ve ek olarak belirlenen yöntemsel açıklar üzerine kritik değerlendirme</a:t>
            </a:r>
          </a:p>
        </p:txBody>
      </p:sp>
      <p:sp>
        <p:nvSpPr>
          <p:cNvPr id="5" name="Div"/>
          <p:cNvSpPr/>
          <p:nvPr/>
        </p:nvSpPr>
        <p:spPr>
          <a:xfrm>
            <a:off x="201168" y="822960"/>
            <a:ext cx="11868912" cy="2286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BottomBar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FooterText"/>
          <p:cNvSpPr txBox="1"/>
          <p:nvPr/>
        </p:nvSpPr>
        <p:spPr>
          <a:xfrm>
            <a:off x="274320" y="662025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Nazar ERBAŞ  ·  220125105033  ·  Romatoid Artritte İskelet Kasının Moleküler Analizi  ·  Oliver et al. Communications Biology 2025</a:t>
            </a:r>
          </a:p>
        </p:txBody>
      </p:sp>
      <p:sp>
        <p:nvSpPr>
          <p:cNvPr id="8" name="PageNum"/>
          <p:cNvSpPr txBox="1"/>
          <p:nvPr/>
        </p:nvSpPr>
        <p:spPr>
          <a:xfrm>
            <a:off x="11777472" y="66202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9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22</a:t>
            </a:r>
          </a:p>
        </p:txBody>
      </p:sp>
      <p:graphicFrame>
        <p:nvGraphicFramePr>
          <p:cNvPr id="9" name="RedesignTable"/>
          <p:cNvGraphicFramePr>
            <a:graphicFrameLocks noGrp="1"/>
          </p:cNvGraphicFramePr>
          <p:nvPr/>
        </p:nvGraphicFramePr>
        <p:xfrm>
          <a:off x="201168" y="990120"/>
          <a:ext cx="11868912" cy="4360000"/>
        </p:xfrm>
        <a:graphic>
          <a:graphicData uri="http://schemas.openxmlformats.org/drawingml/2006/table">
            <a:tbl>
              <a:tblPr firstRow="1"/>
              <a:tblGrid>
                <a:gridCol w="593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4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tr-TR" sz="1150" b="1" dirty="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0"/>
                        </a:rPr>
                        <a:t>Yöntemsel Açık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150" b="1" dirty="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0"/>
                        </a:rPr>
                        <a:t>Sıfırdan Tasarım Önerisi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75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lang="tr-TR" sz="1000" b="1" dirty="0">
                          <a:solidFill>
                            <a:srgbClr val="334155"/>
                          </a:solidFill>
                          <a:latin typeface="Calibri" pitchFamily="34" charset="0"/>
                          <a:cs typeface="Calibri" pitchFamily="34" charset="0"/>
                        </a:rPr>
                        <a:t>Küçük ve cinsiyet dengesiz örneklem (RNA-seq n=3+3; tüm RA donörleri kadın)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 dirty="0">
                          <a:solidFill>
                            <a:srgbClr val="334155"/>
                          </a:solidFill>
                          <a:latin typeface="Calibri" pitchFamily="34" charset="0"/>
                          <a:cs typeface="Calibri" pitchFamily="34" charset="0"/>
                        </a:rPr>
                        <a:t>Grup başına n≥8, cinsiyet dengeli kohort ile daha güçlü istatistiksel çıkarım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lang="tr-TR" sz="1000" b="1" dirty="0">
                          <a:solidFill>
                            <a:srgbClr val="334155"/>
                          </a:solidFill>
                          <a:latin typeface="Calibri" pitchFamily="34" charset="0"/>
                          <a:cs typeface="Calibri" pitchFamily="34" charset="0"/>
                        </a:rPr>
                        <a:t>Tek IFN-γ dozu (5 ng/mL) — doz-yanıt ilişkisi test edilmedi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 dirty="0">
                          <a:solidFill>
                            <a:srgbClr val="334155"/>
                          </a:solidFill>
                          <a:latin typeface="Calibri" pitchFamily="34" charset="0"/>
                          <a:cs typeface="Calibri" pitchFamily="34" charset="0"/>
                        </a:rPr>
                        <a:t>0.5–50 ng/mL aralığında çoklu doz ile doz-yanıt eğrisi oluşturulmalı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lang="tr-TR" sz="1000" b="1" dirty="0">
                          <a:solidFill>
                            <a:srgbClr val="334155"/>
                          </a:solidFill>
                          <a:latin typeface="Calibri" pitchFamily="34" charset="0"/>
                          <a:cs typeface="Calibri" pitchFamily="34" charset="0"/>
                        </a:rPr>
                        <a:t>Sadece IFN-γ ve IL-6 kronik test edildi; TNF-α yalnızca 3 günlük ön deneyde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 dirty="0">
                          <a:solidFill>
                            <a:srgbClr val="334155"/>
                          </a:solidFill>
                          <a:latin typeface="Calibri" pitchFamily="34" charset="0"/>
                          <a:cs typeface="Calibri" pitchFamily="34" charset="0"/>
                        </a:rPr>
                        <a:t>Kronik TNF-α ve çoklu sitokin kombinasyonlarıyla gerçekçi inflamatuar ortam taklit edilmeli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lang="tr-TR" sz="1000" b="1" dirty="0">
                          <a:solidFill>
                            <a:srgbClr val="334155"/>
                          </a:solidFill>
                          <a:latin typeface="Calibri" pitchFamily="34" charset="0"/>
                          <a:cs typeface="Calibri" pitchFamily="34" charset="0"/>
                        </a:rPr>
                        <a:t>Bulk RNA-seq — miyotüp, fibroblast gibi hücre tipleri ayrıştırılamıyor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 dirty="0">
                          <a:solidFill>
                            <a:srgbClr val="334155"/>
                          </a:solidFill>
                          <a:latin typeface="Calibri" pitchFamily="34" charset="0"/>
                          <a:cs typeface="Calibri" pitchFamily="34" charset="0"/>
                        </a:rPr>
                        <a:t>Single-cell/single-nucleus RNA-seq ile hücre tipine özgü yanıtlar çözümlenmeli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lang="tr-TR" sz="1000" b="1" dirty="0">
                          <a:solidFill>
                            <a:srgbClr val="334155"/>
                          </a:solidFill>
                          <a:latin typeface="Calibri" pitchFamily="34" charset="0"/>
                          <a:cs typeface="Calibri" pitchFamily="34" charset="0"/>
                        </a:rPr>
                        <a:t>PIM1 ve MT-1E bulgusu yalnızca korelasyonel — nedensellik kanıtlanmadı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 dirty="0">
                          <a:solidFill>
                            <a:srgbClr val="334155"/>
                          </a:solidFill>
                          <a:latin typeface="Calibri" pitchFamily="34" charset="0"/>
                          <a:cs typeface="Calibri" pitchFamily="34" charset="0"/>
                        </a:rPr>
                        <a:t>PIM1 siRNA knockdown veya farmakolojik inhibitörle fonksiyonel doğrulama yapılmalı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lang="tr-TR" sz="1000" b="1" dirty="0">
                          <a:solidFill>
                            <a:srgbClr val="334155"/>
                          </a:solidFill>
                          <a:latin typeface="Calibri" pitchFamily="34" charset="0"/>
                          <a:cs typeface="Calibri" pitchFamily="34" charset="0"/>
                        </a:rPr>
                        <a:t>Tek zaman noktası (gün 14) — moleküler ve fonksiyonel kinetik bilinmiyor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000" dirty="0">
                          <a:solidFill>
                            <a:srgbClr val="334155"/>
                          </a:solidFill>
                          <a:latin typeface="Calibri" pitchFamily="34" charset="0"/>
                          <a:cs typeface="Calibri" pitchFamily="34" charset="0"/>
                        </a:rPr>
                        <a:t>Gün 7, 9, 11, 14'te örnekleme ile zaman serisi (kinetik) analizi yapılmalı</a:t>
                      </a:r>
                    </a:p>
                  </a:txBody>
                  <a:tcPr marR="45720" marT="22860" marB="22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MsgBar"/>
          <p:cNvSpPr/>
          <p:nvPr/>
        </p:nvSpPr>
        <p:spPr>
          <a:xfrm>
            <a:off x="201168" y="5989320"/>
            <a:ext cx="11789664" cy="6126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MsgLabel"/>
          <p:cNvSpPr txBox="1"/>
          <p:nvPr/>
        </p:nvSpPr>
        <p:spPr>
          <a:xfrm>
            <a:off x="384048" y="6044568"/>
            <a:ext cx="2926080" cy="50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00" b="1" dirty="0">
                <a:solidFill>
                  <a:srgbClr val="7DD3FC"/>
                </a:solidFill>
                <a:latin typeface="Calibri" pitchFamily="34" charset="0"/>
                <a:cs typeface="Calibri" pitchFamily="34" charset="0"/>
              </a:rPr>
              <a:t>🔑  Ana Mesaj:</a:t>
            </a:r>
          </a:p>
        </p:txBody>
      </p:sp>
      <p:sp>
        <p:nvSpPr>
          <p:cNvPr id="12" name="MsgText"/>
          <p:cNvSpPr txBox="1"/>
          <p:nvPr/>
        </p:nvSpPr>
        <p:spPr>
          <a:xfrm>
            <a:off x="3383280" y="6044568"/>
            <a:ext cx="8229600" cy="50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05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Bu öneriler makalenin bulgularını geçersiz kılmaz; bulgu sağlam, ancak tekrarlanabilirliği ve nedenselliği güçlendirecek doğal bir sonraki adımdır.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54864" cy="66019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itle"/>
          <p:cNvSpPr txBox="1"/>
          <p:nvPr/>
        </p:nvSpPr>
        <p:spPr>
          <a:xfrm>
            <a:off x="201168" y="109728"/>
            <a:ext cx="1186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600" b="1" dirty="0">
                <a:solidFill>
                  <a:srgbClr val="0F2D52"/>
                </a:solidFill>
                <a:latin typeface="Calibri" pitchFamily="34" charset="0"/>
                <a:cs typeface="Calibri" pitchFamily="34" charset="0"/>
              </a:rPr>
              <a:t>Genel Özet ve Ana Mesaj</a:t>
            </a:r>
          </a:p>
        </p:txBody>
      </p:sp>
      <p:sp>
        <p:nvSpPr>
          <p:cNvPr id="4" name="Sub"/>
          <p:cNvSpPr txBox="1"/>
          <p:nvPr/>
        </p:nvSpPr>
        <p:spPr>
          <a:xfrm>
            <a:off x="201168" y="566928"/>
            <a:ext cx="1186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i="1" dirty="0">
                <a:solidFill>
                  <a:srgbClr val="64748B"/>
                </a:solidFill>
                <a:latin typeface="Calibri" pitchFamily="34" charset="0"/>
                <a:cs typeface="Calibri" pitchFamily="34" charset="0"/>
              </a:rPr>
              <a:t>Çalışmanın Dört Temel Bulgusu ve Terapötik Çıkarım</a:t>
            </a:r>
          </a:p>
        </p:txBody>
      </p:sp>
      <p:sp>
        <p:nvSpPr>
          <p:cNvPr id="5" name="Div"/>
          <p:cNvSpPr/>
          <p:nvPr/>
        </p:nvSpPr>
        <p:spPr>
          <a:xfrm>
            <a:off x="201168" y="822960"/>
            <a:ext cx="11868912" cy="2286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BottomBar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FooterText"/>
          <p:cNvSpPr txBox="1"/>
          <p:nvPr/>
        </p:nvSpPr>
        <p:spPr>
          <a:xfrm>
            <a:off x="274320" y="662025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Nazar ERBAŞ  ·  220125105033  ·  Romatoid Artritte İskelet Kasının Moleküler Analizi  ·  Oliver et al. Communications Biology 2025</a:t>
            </a:r>
          </a:p>
        </p:txBody>
      </p:sp>
      <p:sp>
        <p:nvSpPr>
          <p:cNvPr id="8" name="PageNum"/>
          <p:cNvSpPr txBox="1"/>
          <p:nvPr/>
        </p:nvSpPr>
        <p:spPr>
          <a:xfrm>
            <a:off x="11777472" y="66202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9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23</a:t>
            </a:r>
          </a:p>
        </p:txBody>
      </p:sp>
      <p:sp>
        <p:nvSpPr>
          <p:cNvPr id="9" name="Card0Bg"/>
          <p:cNvSpPr/>
          <p:nvPr/>
        </p:nvSpPr>
        <p:spPr>
          <a:xfrm>
            <a:off x="201168" y="960120"/>
            <a:ext cx="11868912" cy="11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Card0Accent"/>
          <p:cNvSpPr/>
          <p:nvPr/>
        </p:nvSpPr>
        <p:spPr>
          <a:xfrm>
            <a:off x="201168" y="960120"/>
            <a:ext cx="54864" cy="1180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Card0Badge"/>
          <p:cNvSpPr/>
          <p:nvPr/>
        </p:nvSpPr>
        <p:spPr>
          <a:xfrm>
            <a:off x="376032" y="1339808"/>
            <a:ext cx="420624" cy="4206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Card0Num"/>
          <p:cNvSpPr txBox="1"/>
          <p:nvPr/>
        </p:nvSpPr>
        <p:spPr>
          <a:xfrm>
            <a:off x="376032" y="1339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13" name="Card0Title"/>
          <p:cNvSpPr txBox="1"/>
          <p:nvPr/>
        </p:nvSpPr>
        <p:spPr>
          <a:xfrm>
            <a:off x="946656" y="1070120"/>
            <a:ext cx="10973424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50" b="1" dirty="0">
                <a:solidFill>
                  <a:srgbClr val="2563EB"/>
                </a:solidFill>
                <a:latin typeface="Calibri" pitchFamily="34" charset="0"/>
                <a:cs typeface="Calibri" pitchFamily="34" charset="0"/>
              </a:rPr>
              <a:t>IFN-γ Kas Hücresinde Baskın Düzenleyicidir</a:t>
            </a:r>
          </a:p>
        </p:txBody>
      </p:sp>
      <p:sp>
        <p:nvSpPr>
          <p:cNvPr id="14" name="Card0Div"/>
          <p:cNvSpPr/>
          <p:nvPr/>
        </p:nvSpPr>
        <p:spPr>
          <a:xfrm>
            <a:off x="946656" y="1460120"/>
            <a:ext cx="1097342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Card0Desc"/>
          <p:cNvSpPr txBox="1"/>
          <p:nvPr/>
        </p:nvSpPr>
        <p:spPr>
          <a:xfrm>
            <a:off x="946656" y="1500120"/>
            <a:ext cx="10973424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000" dirty="0">
                <a:solidFill>
                  <a:srgbClr val="374151"/>
                </a:solidFill>
                <a:latin typeface="Calibri" pitchFamily="34" charset="0"/>
                <a:cs typeface="Calibri" pitchFamily="34" charset="0"/>
              </a:rPr>
              <a:t>PCA ve heatmap analizleri IFN-γ'nın en güçlü transkriptomik etkiyi oluşturduğunu göstermiştir. IL-6 tek başına sınırlı etki göstermiş; RA ve kontrol arasındaki temel farklılık sitokin uyarısı sonrası ortaya çıkmıştır.</a:t>
            </a:r>
          </a:p>
        </p:txBody>
      </p:sp>
      <p:sp>
        <p:nvSpPr>
          <p:cNvPr id="16" name="Card1Bg"/>
          <p:cNvSpPr/>
          <p:nvPr/>
        </p:nvSpPr>
        <p:spPr>
          <a:xfrm>
            <a:off x="201168" y="2243120"/>
            <a:ext cx="11868912" cy="11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Card1Accent"/>
          <p:cNvSpPr/>
          <p:nvPr/>
        </p:nvSpPr>
        <p:spPr>
          <a:xfrm>
            <a:off x="201168" y="2243120"/>
            <a:ext cx="54864" cy="1180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Card1Badge"/>
          <p:cNvSpPr/>
          <p:nvPr/>
        </p:nvSpPr>
        <p:spPr>
          <a:xfrm>
            <a:off x="376032" y="2622808"/>
            <a:ext cx="420624" cy="42062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Card1Num"/>
          <p:cNvSpPr txBox="1"/>
          <p:nvPr/>
        </p:nvSpPr>
        <p:spPr>
          <a:xfrm>
            <a:off x="376032" y="262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2</a:t>
            </a:r>
          </a:p>
        </p:txBody>
      </p:sp>
      <p:sp>
        <p:nvSpPr>
          <p:cNvPr id="20" name="Card1Title"/>
          <p:cNvSpPr txBox="1"/>
          <p:nvPr/>
        </p:nvSpPr>
        <p:spPr>
          <a:xfrm>
            <a:off x="946656" y="2353120"/>
            <a:ext cx="10973424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50" b="1" dirty="0">
                <a:solidFill>
                  <a:srgbClr val="6D28D9"/>
                </a:solidFill>
                <a:latin typeface="Calibri" pitchFamily="34" charset="0"/>
                <a:cs typeface="Calibri" pitchFamily="34" charset="0"/>
              </a:rPr>
              <a:t>Kas Hücreleri İmmün Fenotipe Geçmektedir</a:t>
            </a:r>
          </a:p>
        </p:txBody>
      </p:sp>
      <p:sp>
        <p:nvSpPr>
          <p:cNvPr id="21" name="Card1Div"/>
          <p:cNvSpPr/>
          <p:nvPr/>
        </p:nvSpPr>
        <p:spPr>
          <a:xfrm>
            <a:off x="946656" y="2743120"/>
            <a:ext cx="1097342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Card1Desc"/>
          <p:cNvSpPr txBox="1"/>
          <p:nvPr/>
        </p:nvSpPr>
        <p:spPr>
          <a:xfrm>
            <a:off x="946656" y="2783120"/>
            <a:ext cx="10973424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000" dirty="0">
                <a:solidFill>
                  <a:srgbClr val="374151"/>
                </a:solidFill>
                <a:latin typeface="Calibri" pitchFamily="34" charset="0"/>
                <a:cs typeface="Calibri" pitchFamily="34" charset="0"/>
              </a:rPr>
              <a:t>IFN-γ ile CIITA, HLA-DRA, CD74 ve GBP4 artışı sonucunda kas hücreleri antijen sunabilen immün-benzeri bir fenotip kazanmaktadır.</a:t>
            </a:r>
          </a:p>
        </p:txBody>
      </p:sp>
      <p:sp>
        <p:nvSpPr>
          <p:cNvPr id="23" name="Card2Bg"/>
          <p:cNvSpPr/>
          <p:nvPr/>
        </p:nvSpPr>
        <p:spPr>
          <a:xfrm>
            <a:off x="201168" y="3526120"/>
            <a:ext cx="11868912" cy="11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Card2Accent"/>
          <p:cNvSpPr/>
          <p:nvPr/>
        </p:nvSpPr>
        <p:spPr>
          <a:xfrm>
            <a:off x="201168" y="3526120"/>
            <a:ext cx="54864" cy="1180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Card2Badge"/>
          <p:cNvSpPr/>
          <p:nvPr/>
        </p:nvSpPr>
        <p:spPr>
          <a:xfrm>
            <a:off x="376032" y="3905808"/>
            <a:ext cx="420624" cy="42062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Card2Num"/>
          <p:cNvSpPr txBox="1"/>
          <p:nvPr/>
        </p:nvSpPr>
        <p:spPr>
          <a:xfrm>
            <a:off x="376032" y="390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27" name="Card2Title"/>
          <p:cNvSpPr txBox="1"/>
          <p:nvPr/>
        </p:nvSpPr>
        <p:spPr>
          <a:xfrm>
            <a:off x="946656" y="3636120"/>
            <a:ext cx="10973424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50" b="1" dirty="0">
                <a:solidFill>
                  <a:srgbClr val="B45309"/>
                </a:solidFill>
                <a:latin typeface="Calibri" pitchFamily="34" charset="0"/>
                <a:cs typeface="Calibri" pitchFamily="34" charset="0"/>
              </a:rPr>
              <a:t>RA Miyotüplerinde Ek Stres Yanıtları Gelişmektedir</a:t>
            </a:r>
          </a:p>
        </p:txBody>
      </p:sp>
      <p:sp>
        <p:nvSpPr>
          <p:cNvPr id="28" name="Card2Div"/>
          <p:cNvSpPr/>
          <p:nvPr/>
        </p:nvSpPr>
        <p:spPr>
          <a:xfrm>
            <a:off x="946656" y="4026120"/>
            <a:ext cx="1097342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Card2Desc"/>
          <p:cNvSpPr txBox="1"/>
          <p:nvPr/>
        </p:nvSpPr>
        <p:spPr>
          <a:xfrm>
            <a:off x="946656" y="4066120"/>
            <a:ext cx="10973424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000" dirty="0">
                <a:solidFill>
                  <a:srgbClr val="374151"/>
                </a:solidFill>
                <a:latin typeface="Calibri" pitchFamily="34" charset="0"/>
                <a:cs typeface="Calibri" pitchFamily="34" charset="0"/>
              </a:rPr>
              <a:t>GSEA analizinde yalnızca RA grubunda Hypoxia, MTORC1 Signaling ve Unfolded Protein Response yolakları anlamlı bulunmuş; bu durum RA kas hücrelerinin inflamasyona daha duyarlı olduğunu göstermektedir.</a:t>
            </a:r>
          </a:p>
        </p:txBody>
      </p:sp>
      <p:sp>
        <p:nvSpPr>
          <p:cNvPr id="30" name="Card3Bg"/>
          <p:cNvSpPr/>
          <p:nvPr/>
        </p:nvSpPr>
        <p:spPr>
          <a:xfrm>
            <a:off x="201168" y="4809120"/>
            <a:ext cx="11868912" cy="11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Card3Accent"/>
          <p:cNvSpPr/>
          <p:nvPr/>
        </p:nvSpPr>
        <p:spPr>
          <a:xfrm>
            <a:off x="201168" y="4809120"/>
            <a:ext cx="54864" cy="11800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Card3Badge"/>
          <p:cNvSpPr/>
          <p:nvPr/>
        </p:nvSpPr>
        <p:spPr>
          <a:xfrm>
            <a:off x="376032" y="5188808"/>
            <a:ext cx="420624" cy="42062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Card3Num"/>
          <p:cNvSpPr txBox="1"/>
          <p:nvPr/>
        </p:nvSpPr>
        <p:spPr>
          <a:xfrm>
            <a:off x="376032" y="5188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34" name="Card3Title"/>
          <p:cNvSpPr txBox="1"/>
          <p:nvPr/>
        </p:nvSpPr>
        <p:spPr>
          <a:xfrm>
            <a:off x="946656" y="4919120"/>
            <a:ext cx="10973424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50" b="1" dirty="0">
                <a:solidFill>
                  <a:srgbClr val="B91C1C"/>
                </a:solidFill>
                <a:latin typeface="Calibri" pitchFamily="34" charset="0"/>
                <a:cs typeface="Calibri" pitchFamily="34" charset="0"/>
              </a:rPr>
              <a:t>Fonksiyonel Sonuç: Sinyalden Kas Kuvveti Kaybına</a:t>
            </a:r>
          </a:p>
        </p:txBody>
      </p:sp>
      <p:sp>
        <p:nvSpPr>
          <p:cNvPr id="35" name="Card3Div"/>
          <p:cNvSpPr/>
          <p:nvPr/>
        </p:nvSpPr>
        <p:spPr>
          <a:xfrm>
            <a:off x="946656" y="5309120"/>
            <a:ext cx="1097342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Card3Desc"/>
          <p:cNvSpPr txBox="1"/>
          <p:nvPr/>
        </p:nvSpPr>
        <p:spPr>
          <a:xfrm>
            <a:off x="946656" y="5349120"/>
            <a:ext cx="10973424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000" dirty="0">
                <a:solidFill>
                  <a:srgbClr val="374151"/>
                </a:solidFill>
                <a:latin typeface="Calibri" pitchFamily="34" charset="0"/>
                <a:cs typeface="Calibri" pitchFamily="34" charset="0"/>
              </a:rPr>
              <a:t>IFN-γ  →  JAK/STAT1  →  İnflamasyon  →  Metabolik Stres  →  Kas Proteinlerinde Azalma  →  Kas Kuvvetinde Azalma.</a:t>
            </a:r>
          </a:p>
        </p:txBody>
      </p:sp>
      <p:sp>
        <p:nvSpPr>
          <p:cNvPr id="37" name="MsgBar"/>
          <p:cNvSpPr/>
          <p:nvPr/>
        </p:nvSpPr>
        <p:spPr>
          <a:xfrm>
            <a:off x="201168" y="5989320"/>
            <a:ext cx="11789664" cy="6126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8" name="MsgLabel"/>
          <p:cNvSpPr txBox="1"/>
          <p:nvPr/>
        </p:nvSpPr>
        <p:spPr>
          <a:xfrm>
            <a:off x="384048" y="6044568"/>
            <a:ext cx="2926080" cy="50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100" b="1" dirty="0">
                <a:solidFill>
                  <a:srgbClr val="7DD3FC"/>
                </a:solidFill>
                <a:latin typeface="Calibri" pitchFamily="34" charset="0"/>
                <a:cs typeface="Calibri" pitchFamily="34" charset="0"/>
              </a:rPr>
              <a:t>🔑  Terapötik Çıkarım:</a:t>
            </a:r>
          </a:p>
        </p:txBody>
      </p:sp>
      <p:sp>
        <p:nvSpPr>
          <p:cNvPr id="39" name="MsgText"/>
          <p:cNvSpPr txBox="1"/>
          <p:nvPr/>
        </p:nvSpPr>
        <p:spPr>
          <a:xfrm>
            <a:off x="3383280" y="6044568"/>
            <a:ext cx="8229600" cy="50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05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Tofacitinib ile JAK/STAT sinyalizasyonu baskılanmış ve kas fonksiyonu iyileşmiştir; IFN-γ/JAK/STAT ekseni RA ilişkili kas disfonksiyonu için potansiyel bir tedavi hedefidir.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5505</TotalTime>
  <Words>4701</Words>
  <Application>Microsoft Office PowerPoint</Application>
  <PresentationFormat>Geniş ekran</PresentationFormat>
  <Paragraphs>656</Paragraphs>
  <Slides>23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23</vt:i4>
      </vt:variant>
    </vt:vector>
  </HeadingPairs>
  <TitlesOfParts>
    <vt:vector size="27" baseType="lpstr">
      <vt:lpstr>Aptos</vt:lpstr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Nazar Erbaş</cp:lastModifiedBy>
  <cp:revision>12</cp:revision>
  <dcterms:created xsi:type="dcterms:W3CDTF">2026-04-13T06:33:16Z</dcterms:created>
  <dcterms:modified xsi:type="dcterms:W3CDTF">2026-06-16T20:31:28Z</dcterms:modified>
</cp:coreProperties>
</file>